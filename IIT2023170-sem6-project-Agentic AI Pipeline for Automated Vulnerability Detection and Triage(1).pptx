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3"/>
    <p:sldMasterId id="2147483654" r:id="rId4"/>
    <p:sldMasterId id="2147483655" r:id="rId5"/>
    <p:sldMasterId id="2147483656" r:id="rId6"/>
    <p:sldMasterId id="214748365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Lst>
  <p:sldSz cy="5143500" cx="9144000"/>
  <p:notesSz cx="6858000" cy="9144000"/>
  <p:embeddedFontLst>
    <p:embeddedFont>
      <p:font typeface="Figtree Black"/>
      <p:bold r:id="rId48"/>
      <p:boldItalic r:id="rId49"/>
    </p:embeddedFont>
    <p:embeddedFont>
      <p:font typeface="Hanken Grotesk"/>
      <p:regular r:id="rId50"/>
      <p:bold r:id="rId51"/>
      <p:italic r:id="rId52"/>
      <p:boldItalic r:id="rId53"/>
    </p:embeddedFont>
    <p:embeddedFont>
      <p:font typeface="Poppi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48" Type="http://schemas.openxmlformats.org/officeDocument/2006/relationships/font" Target="fonts/FigtreeBlack-bold.fntdata"/><Relationship Id="rId47" Type="http://schemas.openxmlformats.org/officeDocument/2006/relationships/slide" Target="slides/slide39.xml"/><Relationship Id="rId49" Type="http://schemas.openxmlformats.org/officeDocument/2006/relationships/font" Target="fonts/FigtreeBlack-boldItalic.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HankenGrotesk-bold.fntdata"/><Relationship Id="rId50" Type="http://schemas.openxmlformats.org/officeDocument/2006/relationships/font" Target="fonts/HankenGrotesk-regular.fntdata"/><Relationship Id="rId53" Type="http://schemas.openxmlformats.org/officeDocument/2006/relationships/font" Target="fonts/HankenGrotesk-boldItalic.fntdata"/><Relationship Id="rId52" Type="http://schemas.openxmlformats.org/officeDocument/2006/relationships/font" Target="fonts/HankenGrotesk-italic.fntdata"/><Relationship Id="rId11" Type="http://schemas.openxmlformats.org/officeDocument/2006/relationships/slide" Target="slides/slide3.xml"/><Relationship Id="rId55" Type="http://schemas.openxmlformats.org/officeDocument/2006/relationships/font" Target="fonts/Poppins-bold.fntdata"/><Relationship Id="rId10" Type="http://schemas.openxmlformats.org/officeDocument/2006/relationships/slide" Target="slides/slide2.xml"/><Relationship Id="rId54" Type="http://schemas.openxmlformats.org/officeDocument/2006/relationships/font" Target="fonts/Poppins-regular.fntdata"/><Relationship Id="rId13" Type="http://schemas.openxmlformats.org/officeDocument/2006/relationships/slide" Target="slides/slide5.xml"/><Relationship Id="rId57" Type="http://schemas.openxmlformats.org/officeDocument/2006/relationships/font" Target="fonts/Poppins-boldItalic.fntdata"/><Relationship Id="rId12" Type="http://schemas.openxmlformats.org/officeDocument/2006/relationships/slide" Target="slides/slide4.xml"/><Relationship Id="rId56" Type="http://schemas.openxmlformats.org/officeDocument/2006/relationships/font" Target="fonts/Poppins-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d9d4992a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 name="Google Shape;53;g3dd9d4992a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d9d4992a0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g3dd9d4992a0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d9d4992a0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 name="Google Shape;71;g3dd9d4992a0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d9d4992a0_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g3dd9d4992a0_1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d9d4992a0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g3dd9d4992a0_1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d9d4992a0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dd9d4992a0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d9d4992a0_1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dd9d4992a0_1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d9d4992a0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3dd9d4992a0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d9d4992a0_1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dd9d4992a0_1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d9d4992a0_1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dd9d4992a0_1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d9d4992a0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g3dd9d4992a0_1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d9d4992a0_1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dd9d4992a0_1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d9d4992a0_1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g3dd9d4992a0_1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d9d4992a0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g3dd9d4992a0_1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d9d4992a0_1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dd9d4992a0_1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d9d4992a0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dd9d4992a0_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d9d4992a0_1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dd9d4992a0_1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d9d4992a0_1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3dd9d4992a0_1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d9d4992a0_1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dd9d4992a0_1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d9d4992a0_1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3dd9d4992a0_1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d9d4992a0_1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3dd9d4992a0_1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d9d4992a0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3dd9d4992a0_1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d9d4992a0_1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3dd9d4992a0_1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d9d4992a0_1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dd9d4992a0_1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d9d4992a0_1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3dd9d4992a0_1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d9d4992a0_1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3dd9d4992a0_1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d9d4992a0_1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dd9d4992a0_1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d9d4992a0_1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3dd9d4992a0_1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d9d4992a0_1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g3dd9d4992a0_1_1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d9d4992a0_1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g3dd9d4992a0_1_1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d9d4992a0_1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dd9d4992a0_1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d9d4992a0_1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dd9d4992a0_1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d9d4992a0_1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g3dd9d4992a0_1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d9d4992a0_1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g3dd9d4992a0_1_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d9d4992a0_1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dd9d4992a0_1_2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type="blank">
  <p:cSld name="BLANK">
    <p:spTree>
      <p:nvGrpSpPr>
        <p:cNvPr id="17" name="Shape 1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720000" y="444960"/>
            <a:ext cx="77037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_"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 type="titleOnly">
  <p:cSld name="TITLE_ONLY">
    <p:spTree>
      <p:nvGrpSpPr>
        <p:cNvPr id="49" name="Shape 49"/>
        <p:cNvGrpSpPr/>
        <p:nvPr/>
      </p:nvGrpSpPr>
      <p:grpSpPr>
        <a:xfrm>
          <a:off x="0" y="0"/>
          <a:ext cx="0" cy="0"/>
          <a:chOff x="0" y="0"/>
          <a:chExt cx="0" cy="0"/>
        </a:xfrm>
      </p:grpSpPr>
      <p:sp>
        <p:nvSpPr>
          <p:cNvPr id="50" name="Google Shape;50;p10"/>
          <p:cNvSpPr txBox="1"/>
          <p:nvPr>
            <p:ph type="title"/>
          </p:nvPr>
        </p:nvSpPr>
        <p:spPr>
          <a:xfrm>
            <a:off x="720000" y="444960"/>
            <a:ext cx="77037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6.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p:nvPr/>
        </p:nvSpPr>
        <p:spPr>
          <a:xfrm>
            <a:off x="-3422880" y="0"/>
            <a:ext cx="5143200" cy="51432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
          <p:cNvGrpSpPr/>
          <p:nvPr/>
        </p:nvGrpSpPr>
        <p:grpSpPr>
          <a:xfrm>
            <a:off x="727200" y="-382320"/>
            <a:ext cx="7703580" cy="5907180"/>
            <a:chOff x="727200" y="-382320"/>
            <a:chExt cx="7703580" cy="5907180"/>
          </a:xfrm>
        </p:grpSpPr>
        <p:sp>
          <p:nvSpPr>
            <p:cNvPr id="12" name="Google Shape;12;p3"/>
            <p:cNvSpPr/>
            <p:nvPr/>
          </p:nvSpPr>
          <p:spPr>
            <a:xfrm>
              <a:off x="727560" y="533520"/>
              <a:ext cx="7702800" cy="4074600"/>
            </a:xfrm>
            <a:prstGeom prst="rect">
              <a:avLst/>
            </a:prstGeom>
            <a:noFill/>
            <a:ln cap="flat" cmpd="sng" w="190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 name="Google Shape;13;p3"/>
            <p:cNvCxnSpPr/>
            <p:nvPr/>
          </p:nvCxnSpPr>
          <p:spPr>
            <a:xfrm>
              <a:off x="727200" y="4608360"/>
              <a:ext cx="300" cy="916500"/>
            </a:xfrm>
            <a:prstGeom prst="straightConnector1">
              <a:avLst/>
            </a:prstGeom>
            <a:noFill/>
            <a:ln cap="flat" cmpd="sng" w="19050">
              <a:solidFill>
                <a:srgbClr val="333333"/>
              </a:solidFill>
              <a:prstDash val="solid"/>
              <a:round/>
              <a:headEnd len="sm" w="sm" type="none"/>
              <a:tailEnd len="sm" w="sm" type="none"/>
            </a:ln>
          </p:spPr>
        </p:cxnSp>
        <p:cxnSp>
          <p:nvCxnSpPr>
            <p:cNvPr id="14" name="Google Shape;14;p3"/>
            <p:cNvCxnSpPr/>
            <p:nvPr/>
          </p:nvCxnSpPr>
          <p:spPr>
            <a:xfrm>
              <a:off x="8430480" y="-382320"/>
              <a:ext cx="300" cy="916200"/>
            </a:xfrm>
            <a:prstGeom prst="straightConnector1">
              <a:avLst/>
            </a:prstGeom>
            <a:noFill/>
            <a:ln cap="flat" cmpd="sng" w="19050">
              <a:solidFill>
                <a:srgbClr val="333333"/>
              </a:solidFill>
              <a:prstDash val="solid"/>
              <a:round/>
              <a:headEnd len="sm" w="sm" type="none"/>
              <a:tailEnd len="sm" w="sm" type="none"/>
            </a:ln>
          </p:spPr>
        </p:cxnSp>
      </p:grpSp>
      <p:sp>
        <p:nvSpPr>
          <p:cNvPr id="15" name="Google Shape;15;p3"/>
          <p:cNvSpPr txBox="1"/>
          <p:nvPr>
            <p:ph type="title"/>
          </p:nvPr>
        </p:nvSpPr>
        <p:spPr>
          <a:xfrm>
            <a:off x="2603160" y="1856160"/>
            <a:ext cx="5827200" cy="1024200"/>
          </a:xfrm>
          <a:prstGeom prst="rect">
            <a:avLst/>
          </a:prstGeom>
          <a:solidFill>
            <a:schemeClr val="dk1"/>
          </a:solid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 name="Google Shape;16;p3"/>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5"/>
          <p:cNvSpPr/>
          <p:nvPr/>
        </p:nvSpPr>
        <p:spPr>
          <a:xfrm>
            <a:off x="8240760" y="4204440"/>
            <a:ext cx="1861200" cy="18612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
          <p:cNvGrpSpPr/>
          <p:nvPr/>
        </p:nvGrpSpPr>
        <p:grpSpPr>
          <a:xfrm>
            <a:off x="232200" y="-49380"/>
            <a:ext cx="8679180" cy="5251020"/>
            <a:chOff x="232200" y="-49380"/>
            <a:chExt cx="8679180" cy="5251020"/>
          </a:xfrm>
        </p:grpSpPr>
        <p:grpSp>
          <p:nvGrpSpPr>
            <p:cNvPr id="21" name="Google Shape;21;p5"/>
            <p:cNvGrpSpPr/>
            <p:nvPr/>
          </p:nvGrpSpPr>
          <p:grpSpPr>
            <a:xfrm>
              <a:off x="232200" y="-49380"/>
              <a:ext cx="8679180" cy="5251020"/>
              <a:chOff x="232200" y="-49380"/>
              <a:chExt cx="8679180" cy="5251020"/>
            </a:xfrm>
          </p:grpSpPr>
          <p:sp>
            <p:nvSpPr>
              <p:cNvPr id="22" name="Google Shape;22;p5"/>
              <p:cNvSpPr/>
              <p:nvPr/>
            </p:nvSpPr>
            <p:spPr>
              <a:xfrm>
                <a:off x="232200" y="232920"/>
                <a:ext cx="8678400" cy="4684200"/>
              </a:xfrm>
              <a:prstGeom prst="rect">
                <a:avLst/>
              </a:prstGeom>
              <a:noFill/>
              <a:ln cap="flat" cmpd="sng" w="190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 name="Google Shape;23;p5"/>
              <p:cNvCxnSpPr/>
              <p:nvPr/>
            </p:nvCxnSpPr>
            <p:spPr>
              <a:xfrm flipH="1" rot="10800000">
                <a:off x="8911080" y="-49380"/>
                <a:ext cx="300" cy="284100"/>
              </a:xfrm>
              <a:prstGeom prst="straightConnector1">
                <a:avLst/>
              </a:prstGeom>
              <a:noFill/>
              <a:ln cap="flat" cmpd="sng" w="19050">
                <a:solidFill>
                  <a:srgbClr val="333333"/>
                </a:solidFill>
                <a:prstDash val="solid"/>
                <a:round/>
                <a:headEnd len="sm" w="sm" type="none"/>
                <a:tailEnd len="sm" w="sm" type="none"/>
              </a:ln>
            </p:spPr>
          </p:cxnSp>
          <p:cxnSp>
            <p:nvCxnSpPr>
              <p:cNvPr id="24" name="Google Shape;24;p5"/>
              <p:cNvCxnSpPr/>
              <p:nvPr/>
            </p:nvCxnSpPr>
            <p:spPr>
              <a:xfrm flipH="1" rot="10800000">
                <a:off x="232200" y="4917240"/>
                <a:ext cx="300" cy="284400"/>
              </a:xfrm>
              <a:prstGeom prst="straightConnector1">
                <a:avLst/>
              </a:prstGeom>
              <a:noFill/>
              <a:ln cap="flat" cmpd="sng" w="19050">
                <a:solidFill>
                  <a:srgbClr val="333333"/>
                </a:solidFill>
                <a:prstDash val="solid"/>
                <a:round/>
                <a:headEnd len="sm" w="sm" type="none"/>
                <a:tailEnd len="sm" w="sm" type="none"/>
              </a:ln>
            </p:spPr>
          </p:cxnSp>
        </p:grpSp>
        <p:sp>
          <p:nvSpPr>
            <p:cNvPr id="25" name="Google Shape;25;p5"/>
            <p:cNvSpPr/>
            <p:nvPr/>
          </p:nvSpPr>
          <p:spPr>
            <a:xfrm>
              <a:off x="232200" y="232920"/>
              <a:ext cx="8678400" cy="4684200"/>
            </a:xfrm>
            <a:prstGeom prst="rect">
              <a:avLst/>
            </a:prstGeom>
            <a:noFill/>
            <a:ln cap="flat" cmpd="sng" w="190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 name="Google Shape;26;p5"/>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5"/>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 name="Shape 30"/>
        <p:cNvGrpSpPr/>
        <p:nvPr/>
      </p:nvGrpSpPr>
      <p:grpSpPr>
        <a:xfrm>
          <a:off x="0" y="0"/>
          <a:ext cx="0" cy="0"/>
          <a:chOff x="0" y="0"/>
          <a:chExt cx="0" cy="0"/>
        </a:xfrm>
      </p:grpSpPr>
      <p:sp>
        <p:nvSpPr>
          <p:cNvPr id="31" name="Google Shape;31;p7"/>
          <p:cNvSpPr/>
          <p:nvPr/>
        </p:nvSpPr>
        <p:spPr>
          <a:xfrm>
            <a:off x="-3422880" y="0"/>
            <a:ext cx="5143200" cy="51432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 name="Google Shape;32;p7"/>
          <p:cNvGrpSpPr/>
          <p:nvPr/>
        </p:nvGrpSpPr>
        <p:grpSpPr>
          <a:xfrm>
            <a:off x="727200" y="-382320"/>
            <a:ext cx="7703580" cy="5907180"/>
            <a:chOff x="727200" y="-382320"/>
            <a:chExt cx="7703580" cy="5907180"/>
          </a:xfrm>
        </p:grpSpPr>
        <p:sp>
          <p:nvSpPr>
            <p:cNvPr id="33" name="Google Shape;33;p7"/>
            <p:cNvSpPr/>
            <p:nvPr/>
          </p:nvSpPr>
          <p:spPr>
            <a:xfrm>
              <a:off x="727560" y="533520"/>
              <a:ext cx="7702800" cy="4074600"/>
            </a:xfrm>
            <a:prstGeom prst="rect">
              <a:avLst/>
            </a:prstGeom>
            <a:noFill/>
            <a:ln cap="flat" cmpd="sng" w="190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4" name="Google Shape;34;p7"/>
            <p:cNvCxnSpPr/>
            <p:nvPr/>
          </p:nvCxnSpPr>
          <p:spPr>
            <a:xfrm>
              <a:off x="727200" y="4608360"/>
              <a:ext cx="300" cy="916500"/>
            </a:xfrm>
            <a:prstGeom prst="straightConnector1">
              <a:avLst/>
            </a:prstGeom>
            <a:noFill/>
            <a:ln cap="flat" cmpd="sng" w="19050">
              <a:solidFill>
                <a:srgbClr val="333333"/>
              </a:solidFill>
              <a:prstDash val="solid"/>
              <a:round/>
              <a:headEnd len="sm" w="sm" type="none"/>
              <a:tailEnd len="sm" w="sm" type="none"/>
            </a:ln>
          </p:spPr>
        </p:cxnSp>
        <p:cxnSp>
          <p:nvCxnSpPr>
            <p:cNvPr id="35" name="Google Shape;35;p7"/>
            <p:cNvCxnSpPr/>
            <p:nvPr/>
          </p:nvCxnSpPr>
          <p:spPr>
            <a:xfrm>
              <a:off x="8430480" y="-382320"/>
              <a:ext cx="300" cy="916200"/>
            </a:xfrm>
            <a:prstGeom prst="straightConnector1">
              <a:avLst/>
            </a:prstGeom>
            <a:noFill/>
            <a:ln cap="flat" cmpd="sng" w="19050">
              <a:solidFill>
                <a:srgbClr val="333333"/>
              </a:solidFill>
              <a:prstDash val="solid"/>
              <a:round/>
              <a:headEnd len="sm" w="sm" type="none"/>
              <a:tailEnd len="sm" w="sm" type="none"/>
            </a:ln>
          </p:spPr>
        </p:cxnSp>
      </p:grpSp>
      <p:sp>
        <p:nvSpPr>
          <p:cNvPr id="36" name="Google Shape;36;p7"/>
          <p:cNvSpPr txBox="1"/>
          <p:nvPr>
            <p:ph type="title"/>
          </p:nvPr>
        </p:nvSpPr>
        <p:spPr>
          <a:xfrm>
            <a:off x="2603160" y="1856160"/>
            <a:ext cx="5827200" cy="1024200"/>
          </a:xfrm>
          <a:prstGeom prst="rect">
            <a:avLst/>
          </a:prstGeom>
          <a:solidFill>
            <a:schemeClr val="dk1"/>
          </a:solid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p7"/>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9"/>
          <p:cNvSpPr/>
          <p:nvPr/>
        </p:nvSpPr>
        <p:spPr>
          <a:xfrm>
            <a:off x="8240760" y="4204440"/>
            <a:ext cx="1861200" cy="18612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 name="Google Shape;41;p9"/>
          <p:cNvGrpSpPr/>
          <p:nvPr/>
        </p:nvGrpSpPr>
        <p:grpSpPr>
          <a:xfrm>
            <a:off x="232200" y="-49380"/>
            <a:ext cx="8679180" cy="5251020"/>
            <a:chOff x="232200" y="-49380"/>
            <a:chExt cx="8679180" cy="5251020"/>
          </a:xfrm>
        </p:grpSpPr>
        <p:grpSp>
          <p:nvGrpSpPr>
            <p:cNvPr id="42" name="Google Shape;42;p9"/>
            <p:cNvGrpSpPr/>
            <p:nvPr/>
          </p:nvGrpSpPr>
          <p:grpSpPr>
            <a:xfrm>
              <a:off x="232200" y="-49380"/>
              <a:ext cx="8679180" cy="5251020"/>
              <a:chOff x="232200" y="-49380"/>
              <a:chExt cx="8679180" cy="5251020"/>
            </a:xfrm>
          </p:grpSpPr>
          <p:sp>
            <p:nvSpPr>
              <p:cNvPr id="43" name="Google Shape;43;p9"/>
              <p:cNvSpPr/>
              <p:nvPr/>
            </p:nvSpPr>
            <p:spPr>
              <a:xfrm>
                <a:off x="232200" y="232920"/>
                <a:ext cx="8678400" cy="4684200"/>
              </a:xfrm>
              <a:prstGeom prst="rect">
                <a:avLst/>
              </a:prstGeom>
              <a:noFill/>
              <a:ln cap="flat" cmpd="sng" w="190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9"/>
              <p:cNvCxnSpPr/>
              <p:nvPr/>
            </p:nvCxnSpPr>
            <p:spPr>
              <a:xfrm flipH="1" rot="10800000">
                <a:off x="8911080" y="-49380"/>
                <a:ext cx="300" cy="284100"/>
              </a:xfrm>
              <a:prstGeom prst="straightConnector1">
                <a:avLst/>
              </a:prstGeom>
              <a:noFill/>
              <a:ln cap="flat" cmpd="sng" w="19050">
                <a:solidFill>
                  <a:srgbClr val="333333"/>
                </a:solidFill>
                <a:prstDash val="solid"/>
                <a:round/>
                <a:headEnd len="sm" w="sm" type="none"/>
                <a:tailEnd len="sm" w="sm" type="none"/>
              </a:ln>
            </p:spPr>
          </p:cxnSp>
          <p:cxnSp>
            <p:nvCxnSpPr>
              <p:cNvPr id="45" name="Google Shape;45;p9"/>
              <p:cNvCxnSpPr/>
              <p:nvPr/>
            </p:nvCxnSpPr>
            <p:spPr>
              <a:xfrm flipH="1" rot="10800000">
                <a:off x="232200" y="4917240"/>
                <a:ext cx="300" cy="284400"/>
              </a:xfrm>
              <a:prstGeom prst="straightConnector1">
                <a:avLst/>
              </a:prstGeom>
              <a:noFill/>
              <a:ln cap="flat" cmpd="sng" w="19050">
                <a:solidFill>
                  <a:srgbClr val="333333"/>
                </a:solidFill>
                <a:prstDash val="solid"/>
                <a:round/>
                <a:headEnd len="sm" w="sm" type="none"/>
                <a:tailEnd len="sm" w="sm" type="none"/>
              </a:ln>
            </p:spPr>
          </p:cxnSp>
        </p:grpSp>
        <p:sp>
          <p:nvSpPr>
            <p:cNvPr id="46" name="Google Shape;46;p9"/>
            <p:cNvSpPr/>
            <p:nvPr/>
          </p:nvSpPr>
          <p:spPr>
            <a:xfrm>
              <a:off x="232200" y="232920"/>
              <a:ext cx="8678400" cy="4684200"/>
            </a:xfrm>
            <a:prstGeom prst="rect">
              <a:avLst/>
            </a:prstGeom>
            <a:noFill/>
            <a:ln cap="flat" cmpd="sng" w="1905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 name="Google Shape;47;p9"/>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1"/>
          <p:cNvGrpSpPr/>
          <p:nvPr/>
        </p:nvGrpSpPr>
        <p:grpSpPr>
          <a:xfrm>
            <a:off x="777600" y="455760"/>
            <a:ext cx="8716962" cy="1102040"/>
            <a:chOff x="777600" y="455760"/>
            <a:chExt cx="8716962" cy="1102040"/>
          </a:xfrm>
        </p:grpSpPr>
        <p:sp>
          <p:nvSpPr>
            <p:cNvPr id="56" name="Google Shape;56;p11"/>
            <p:cNvSpPr/>
            <p:nvPr/>
          </p:nvSpPr>
          <p:spPr>
            <a:xfrm>
              <a:off x="777600" y="477360"/>
              <a:ext cx="8716962" cy="1080440"/>
            </a:xfrm>
            <a:custGeom>
              <a:rect b="b" l="l" r="r" t="t"/>
              <a:pathLst>
                <a:path extrusionOk="0" h="2881173" w="23245232">
                  <a:moveTo>
                    <a:pt x="0" y="0"/>
                  </a:moveTo>
                  <a:lnTo>
                    <a:pt x="23245232" y="0"/>
                  </a:lnTo>
                  <a:lnTo>
                    <a:pt x="23245232" y="2881173"/>
                  </a:lnTo>
                  <a:lnTo>
                    <a:pt x="0" y="2881173"/>
                  </a:lnTo>
                  <a:close/>
                </a:path>
              </a:pathLst>
            </a:cu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57" name="Google Shape;57;p11"/>
            <p:cNvSpPr/>
            <p:nvPr/>
          </p:nvSpPr>
          <p:spPr>
            <a:xfrm>
              <a:off x="777600" y="455760"/>
              <a:ext cx="7596300" cy="1101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n-US" sz="2200" u="none" cap="none" strike="noStrike">
                  <a:solidFill>
                    <a:srgbClr val="1F2020"/>
                  </a:solidFill>
                  <a:latin typeface="Poppins"/>
                  <a:ea typeface="Poppins"/>
                  <a:cs typeface="Poppins"/>
                  <a:sym typeface="Poppins"/>
                </a:rPr>
                <a:t>Agentic AI Pipeline for Automated Vulnerability Detection and Triage</a:t>
              </a:r>
              <a:endParaRPr b="1" i="0" sz="2200" u="none" cap="none" strike="noStrike">
                <a:solidFill>
                  <a:srgbClr val="1F2020"/>
                </a:solidFill>
                <a:latin typeface="Poppins"/>
                <a:ea typeface="Poppins"/>
                <a:cs typeface="Poppins"/>
                <a:sym typeface="Poppins"/>
              </a:endParaRPr>
            </a:p>
          </p:txBody>
        </p:sp>
      </p:grpSp>
      <p:sp>
        <p:nvSpPr>
          <p:cNvPr id="58" name="Google Shape;58;p11"/>
          <p:cNvSpPr/>
          <p:nvPr/>
        </p:nvSpPr>
        <p:spPr>
          <a:xfrm>
            <a:off x="3604320" y="1661400"/>
            <a:ext cx="1816942" cy="1816942"/>
          </a:xfrm>
          <a:custGeom>
            <a:rect b="b" l="l" r="r" t="t"/>
            <a:pathLst>
              <a:path extrusionOk="0" h="4514141" w="4514141">
                <a:moveTo>
                  <a:pt x="0" y="0"/>
                </a:moveTo>
                <a:lnTo>
                  <a:pt x="4514142" y="0"/>
                </a:lnTo>
                <a:lnTo>
                  <a:pt x="4514142" y="4514141"/>
                </a:lnTo>
                <a:lnTo>
                  <a:pt x="0" y="4514141"/>
                </a:lnTo>
                <a:lnTo>
                  <a:pt x="0" y="0"/>
                </a:lnTo>
                <a:close/>
              </a:path>
            </a:pathLst>
          </a:cu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11"/>
          <p:cNvSpPr/>
          <p:nvPr/>
        </p:nvSpPr>
        <p:spPr>
          <a:xfrm>
            <a:off x="421920" y="3578400"/>
            <a:ext cx="3332100" cy="1024200"/>
          </a:xfrm>
          <a:prstGeom prst="rect">
            <a:avLst/>
          </a:prstGeom>
          <a:noFill/>
          <a:ln>
            <a:noFill/>
          </a:ln>
        </p:spPr>
        <p:txBody>
          <a:bodyPr anchorCtr="0" anchor="t" bIns="0" lIns="0" spcFirstLastPara="1" rIns="0" wrap="square" tIns="0">
            <a:noAutofit/>
          </a:bodyPr>
          <a:lstStyle/>
          <a:p>
            <a:pPr indent="0" lvl="0" marL="217800" marR="0" rtl="0" algn="l">
              <a:lnSpc>
                <a:spcPct val="120000"/>
              </a:lnSpc>
              <a:spcBef>
                <a:spcPts val="0"/>
              </a:spcBef>
              <a:spcAft>
                <a:spcPts val="0"/>
              </a:spcAft>
              <a:buClr>
                <a:srgbClr val="000000"/>
              </a:buClr>
              <a:buSzPts val="1400"/>
              <a:buFont typeface="Arial"/>
              <a:buNone/>
            </a:pPr>
            <a:r>
              <a:rPr b="0" i="0" lang="en-US" sz="1400" u="none" cap="none" strike="noStrike">
                <a:solidFill>
                  <a:srgbClr val="1F2020"/>
                </a:solidFill>
                <a:latin typeface="Poppins"/>
                <a:ea typeface="Poppins"/>
                <a:cs typeface="Poppins"/>
                <a:sym typeface="Poppins"/>
              </a:rPr>
              <a:t>Ansh Namdeo (IIT2023141)</a:t>
            </a:r>
            <a:endParaRPr b="0" i="0" sz="1400" u="none" cap="none" strike="noStrike">
              <a:solidFill>
                <a:srgbClr val="000000"/>
              </a:solidFill>
              <a:latin typeface="Arial"/>
              <a:ea typeface="Arial"/>
              <a:cs typeface="Arial"/>
              <a:sym typeface="Arial"/>
            </a:endParaRPr>
          </a:p>
          <a:p>
            <a:pPr indent="0" lvl="0" marL="217800" marR="0" rtl="0" algn="l">
              <a:lnSpc>
                <a:spcPct val="120000"/>
              </a:lnSpc>
              <a:spcBef>
                <a:spcPts val="0"/>
              </a:spcBef>
              <a:spcAft>
                <a:spcPts val="0"/>
              </a:spcAft>
              <a:buClr>
                <a:srgbClr val="000000"/>
              </a:buClr>
              <a:buSzPts val="1400"/>
              <a:buFont typeface="Arial"/>
              <a:buNone/>
            </a:pPr>
            <a:r>
              <a:rPr b="0" i="0" lang="en-US" sz="1400" u="none" cap="none" strike="noStrike">
                <a:solidFill>
                  <a:srgbClr val="1F2020"/>
                </a:solidFill>
                <a:latin typeface="Poppins"/>
                <a:ea typeface="Poppins"/>
                <a:cs typeface="Poppins"/>
                <a:sym typeface="Poppins"/>
              </a:rPr>
              <a:t>Snehal Gupta (IIT203169)</a:t>
            </a:r>
            <a:endParaRPr b="0" i="0" sz="1400" u="none" cap="none" strike="noStrike">
              <a:solidFill>
                <a:srgbClr val="000000"/>
              </a:solidFill>
              <a:latin typeface="Arial"/>
              <a:ea typeface="Arial"/>
              <a:cs typeface="Arial"/>
              <a:sym typeface="Arial"/>
            </a:endParaRPr>
          </a:p>
          <a:p>
            <a:pPr indent="0" lvl="0" marL="217800" marR="0" rtl="0" algn="l">
              <a:lnSpc>
                <a:spcPct val="120000"/>
              </a:lnSpc>
              <a:spcBef>
                <a:spcPts val="0"/>
              </a:spcBef>
              <a:spcAft>
                <a:spcPts val="0"/>
              </a:spcAft>
              <a:buClr>
                <a:srgbClr val="000000"/>
              </a:buClr>
              <a:buSzPts val="1400"/>
              <a:buFont typeface="Arial"/>
              <a:buNone/>
            </a:pPr>
            <a:r>
              <a:rPr b="0" i="0" lang="en-US" sz="1400" u="none" cap="none" strike="noStrike">
                <a:solidFill>
                  <a:srgbClr val="1F2020"/>
                </a:solidFill>
                <a:latin typeface="Poppins"/>
                <a:ea typeface="Poppins"/>
                <a:cs typeface="Poppins"/>
                <a:sym typeface="Poppins"/>
              </a:rPr>
              <a:t>Arpit Anand (IIT2023170)</a:t>
            </a:r>
            <a:endParaRPr b="0" i="0" sz="1400" u="none" cap="none" strike="noStrike">
              <a:solidFill>
                <a:srgbClr val="000000"/>
              </a:solidFill>
              <a:latin typeface="Arial"/>
              <a:ea typeface="Arial"/>
              <a:cs typeface="Arial"/>
              <a:sym typeface="Arial"/>
            </a:endParaRPr>
          </a:p>
        </p:txBody>
      </p:sp>
      <p:sp>
        <p:nvSpPr>
          <p:cNvPr id="60" name="Google Shape;60;p11"/>
          <p:cNvSpPr/>
          <p:nvPr/>
        </p:nvSpPr>
        <p:spPr>
          <a:xfrm>
            <a:off x="6210000" y="3400560"/>
            <a:ext cx="2457600" cy="114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750"/>
              <a:buFont typeface="Arial"/>
              <a:buNone/>
            </a:pPr>
            <a:r>
              <a:t/>
            </a:r>
            <a:endParaRPr b="0" i="0" sz="1750" u="none" cap="none" strike="noStrike">
              <a:solidFill>
                <a:srgbClr val="000000"/>
              </a:solidFill>
              <a:latin typeface="Arial"/>
              <a:ea typeface="Arial"/>
              <a:cs typeface="Arial"/>
              <a:sym typeface="Arial"/>
            </a:endParaRPr>
          </a:p>
        </p:txBody>
      </p:sp>
      <p:grpSp>
        <p:nvGrpSpPr>
          <p:cNvPr id="61" name="Google Shape;61;p11"/>
          <p:cNvGrpSpPr/>
          <p:nvPr/>
        </p:nvGrpSpPr>
        <p:grpSpPr>
          <a:xfrm>
            <a:off x="-4472735" y="-966580"/>
            <a:ext cx="13384654" cy="5839585"/>
            <a:chOff x="-4201560" y="807120"/>
            <a:chExt cx="13384654" cy="5839585"/>
          </a:xfrm>
        </p:grpSpPr>
        <p:sp>
          <p:nvSpPr>
            <p:cNvPr id="62" name="Google Shape;62;p11"/>
            <p:cNvSpPr/>
            <p:nvPr/>
          </p:nvSpPr>
          <p:spPr>
            <a:xfrm>
              <a:off x="590895" y="1992070"/>
              <a:ext cx="8592199" cy="4654635"/>
            </a:xfrm>
            <a:custGeom>
              <a:rect b="b" l="l" r="r" t="t"/>
              <a:pathLst>
                <a:path extrusionOk="0" h="2167467" w="4274726">
                  <a:moveTo>
                    <a:pt x="15741" y="0"/>
                  </a:moveTo>
                  <a:lnTo>
                    <a:pt x="4258985" y="0"/>
                  </a:lnTo>
                  <a:cubicBezTo>
                    <a:pt x="4267679" y="0"/>
                    <a:pt x="4274726" y="7047"/>
                    <a:pt x="4274726" y="15741"/>
                  </a:cubicBezTo>
                  <a:lnTo>
                    <a:pt x="4274726" y="2151726"/>
                  </a:lnTo>
                  <a:cubicBezTo>
                    <a:pt x="4274726" y="2160419"/>
                    <a:pt x="4267679" y="2167467"/>
                    <a:pt x="4258985" y="2167467"/>
                  </a:cubicBezTo>
                  <a:lnTo>
                    <a:pt x="15741" y="2167467"/>
                  </a:lnTo>
                  <a:cubicBezTo>
                    <a:pt x="11566" y="2167467"/>
                    <a:pt x="7562" y="2165808"/>
                    <a:pt x="4610" y="2162856"/>
                  </a:cubicBezTo>
                  <a:cubicBezTo>
                    <a:pt x="1658" y="2159904"/>
                    <a:pt x="0" y="2155901"/>
                    <a:pt x="0" y="2151726"/>
                  </a:cubicBezTo>
                  <a:lnTo>
                    <a:pt x="0" y="15741"/>
                  </a:lnTo>
                  <a:cubicBezTo>
                    <a:pt x="0" y="7047"/>
                    <a:pt x="7047" y="0"/>
                    <a:pt x="15741" y="0"/>
                  </a:cubicBezTo>
                  <a:close/>
                </a:path>
              </a:pathLst>
            </a:custGeom>
            <a:noFill/>
            <a:ln cap="rnd" cmpd="sng" w="133350">
              <a:solidFill>
                <a:srgbClr val="E9C7C6"/>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0000"/>
                </a:solidFill>
                <a:latin typeface="Arial"/>
                <a:ea typeface="Arial"/>
                <a:cs typeface="Arial"/>
                <a:sym typeface="Arial"/>
              </a:endParaRPr>
            </a:p>
          </p:txBody>
        </p:sp>
        <p:sp>
          <p:nvSpPr>
            <p:cNvPr id="63" name="Google Shape;63;p11"/>
            <p:cNvSpPr/>
            <p:nvPr/>
          </p:nvSpPr>
          <p:spPr>
            <a:xfrm>
              <a:off x="-4201560" y="807120"/>
              <a:ext cx="7429200" cy="4102800"/>
            </a:xfrm>
            <a:prstGeom prst="rect">
              <a:avLst/>
            </a:prstGeom>
            <a:noFill/>
            <a:ln>
              <a:noFill/>
            </a:ln>
          </p:spPr>
          <p:txBody>
            <a:bodyPr anchorCtr="0" anchor="ctr" bIns="25550" lIns="25550" spcFirstLastPara="1" rIns="25550" wrap="square" tIns="25550">
              <a:noAutofit/>
            </a:bodyPr>
            <a:lstStyle/>
            <a:p>
              <a:pPr indent="0" lvl="0" marL="0" marR="0" rtl="0" algn="ctr">
                <a:lnSpc>
                  <a:spcPct val="230857"/>
                </a:lnSpc>
                <a:spcBef>
                  <a:spcPts val="0"/>
                </a:spcBef>
                <a:spcAft>
                  <a:spcPts val="0"/>
                </a:spcAft>
                <a:buClr>
                  <a:srgbClr val="000000"/>
                </a:buClr>
                <a:buSzPts val="700"/>
                <a:buFont typeface="Arial"/>
                <a:buNone/>
              </a:pPr>
              <a:r>
                <a:t/>
              </a:r>
              <a:endParaRPr b="0" i="0" sz="700" u="none" cap="none" strike="noStrike">
                <a:solidFill>
                  <a:srgbClr val="FF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idx="4294967295" type="title"/>
          </p:nvPr>
        </p:nvSpPr>
        <p:spPr>
          <a:xfrm>
            <a:off x="2246040" y="1856160"/>
            <a:ext cx="6184500" cy="1024200"/>
          </a:xfrm>
          <a:prstGeom prst="rect">
            <a:avLst/>
          </a:prstGeom>
          <a:solidFill>
            <a:schemeClr val="dk1"/>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Clr>
                <a:schemeClr val="lt1"/>
              </a:buClr>
              <a:buSzPts val="4900"/>
              <a:buFont typeface="Figtree Black"/>
              <a:buNone/>
            </a:pPr>
            <a:r>
              <a:rPr b="0" i="0" lang="en-US" sz="4400" u="none" cap="none" strike="noStrike">
                <a:solidFill>
                  <a:schemeClr val="lt1"/>
                </a:solidFill>
                <a:latin typeface="Figtree Black"/>
                <a:ea typeface="Figtree Black"/>
                <a:cs typeface="Figtree Black"/>
                <a:sym typeface="Figtree Black"/>
              </a:rPr>
              <a:t>Part 1: Introduction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3"/>
          <p:cNvSpPr txBox="1"/>
          <p:nvPr>
            <p:ph type="title"/>
          </p:nvPr>
        </p:nvSpPr>
        <p:spPr>
          <a:xfrm>
            <a:off x="2976480" y="376560"/>
            <a:ext cx="31908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3600"/>
              <a:buFont typeface="Poppins"/>
              <a:buNone/>
            </a:pPr>
            <a:r>
              <a:rPr b="1" lang="en-US" sz="3600" strike="noStrike">
                <a:solidFill>
                  <a:srgbClr val="1F2020"/>
                </a:solidFill>
                <a:latin typeface="Poppins"/>
                <a:ea typeface="Poppins"/>
                <a:cs typeface="Poppins"/>
                <a:sym typeface="Poppins"/>
              </a:rPr>
              <a:t>Introduction</a:t>
            </a:r>
            <a:br>
              <a:rPr lang="en-US" sz="3600"/>
            </a:br>
            <a:endParaRPr b="0" sz="3600" strike="noStrike">
              <a:solidFill>
                <a:srgbClr val="000000"/>
              </a:solidFill>
              <a:latin typeface="Arial"/>
              <a:ea typeface="Arial"/>
              <a:cs typeface="Arial"/>
              <a:sym typeface="Arial"/>
            </a:endParaRPr>
          </a:p>
        </p:txBody>
      </p:sp>
      <p:sp>
        <p:nvSpPr>
          <p:cNvPr id="74" name="Google Shape;74;p13"/>
          <p:cNvSpPr/>
          <p:nvPr/>
        </p:nvSpPr>
        <p:spPr>
          <a:xfrm>
            <a:off x="164160" y="1238040"/>
            <a:ext cx="8542800" cy="3518700"/>
          </a:xfrm>
          <a:prstGeom prst="rect">
            <a:avLst/>
          </a:prstGeom>
          <a:noFill/>
          <a:ln>
            <a:noFill/>
          </a:ln>
        </p:spPr>
        <p:txBody>
          <a:bodyPr anchorCtr="0" anchor="t" bIns="45000" lIns="90000" spcFirstLastPara="1" rIns="90000" wrap="square" tIns="45000">
            <a:noAutofit/>
          </a:bodyPr>
          <a:lstStyle/>
          <a:p>
            <a:pPr indent="-565329" lvl="0" marL="909361" marR="0" rtl="0" algn="l">
              <a:lnSpc>
                <a:spcPct val="100000"/>
              </a:lnSpc>
              <a:spcBef>
                <a:spcPts val="0"/>
              </a:spcBef>
              <a:spcAft>
                <a:spcPts val="0"/>
              </a:spcAft>
              <a:buClr>
                <a:srgbClr val="000000"/>
              </a:buClr>
              <a:buSzPts val="1400"/>
              <a:buFont typeface="Courier New"/>
              <a:buChar char="o"/>
            </a:pPr>
            <a:r>
              <a:rPr b="0" i="0" lang="en-US" sz="1400" u="none" cap="none" strike="noStrike">
                <a:solidFill>
                  <a:srgbClr val="000000"/>
                </a:solidFill>
                <a:latin typeface="Poppins"/>
                <a:ea typeface="Poppins"/>
                <a:cs typeface="Poppins"/>
                <a:sym typeface="Poppins"/>
              </a:rPr>
              <a:t>Modern software systems are large and continuously evolving, making security vulnerabilities increasingly difficult to detect.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a:p>
            <a:pPr indent="-565329" lvl="0" marL="909361" marR="0" rtl="0" algn="l">
              <a:lnSpc>
                <a:spcPct val="100000"/>
              </a:lnSpc>
              <a:spcBef>
                <a:spcPts val="0"/>
              </a:spcBef>
              <a:spcAft>
                <a:spcPts val="0"/>
              </a:spcAft>
              <a:buClr>
                <a:srgbClr val="000000"/>
              </a:buClr>
              <a:buSzPts val="1400"/>
              <a:buFont typeface="Courier New"/>
              <a:buChar char="o"/>
            </a:pPr>
            <a:r>
              <a:rPr b="0" i="0" lang="en-US" sz="1400" u="none" cap="none" strike="noStrike">
                <a:solidFill>
                  <a:srgbClr val="000000"/>
                </a:solidFill>
                <a:latin typeface="Poppins"/>
                <a:ea typeface="Poppins"/>
                <a:cs typeface="Poppins"/>
                <a:sym typeface="Poppins"/>
              </a:rPr>
              <a:t>Static Application Security Testing (SAST) tools such as CodeQL are widely used to analyze source code for vulnerabilities.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a:p>
            <a:pPr indent="-565329" lvl="0" marL="909361" marR="0" rtl="0" algn="l">
              <a:lnSpc>
                <a:spcPct val="100000"/>
              </a:lnSpc>
              <a:spcBef>
                <a:spcPts val="0"/>
              </a:spcBef>
              <a:spcAft>
                <a:spcPts val="0"/>
              </a:spcAft>
              <a:buClr>
                <a:srgbClr val="000000"/>
              </a:buClr>
              <a:buSzPts val="1400"/>
              <a:buFont typeface="Courier New"/>
              <a:buChar char="o"/>
            </a:pPr>
            <a:r>
              <a:rPr b="0" i="0" lang="en-US" sz="1400" u="none" cap="none" strike="noStrike">
                <a:solidFill>
                  <a:srgbClr val="000000"/>
                </a:solidFill>
                <a:latin typeface="Poppins"/>
                <a:ea typeface="Poppins"/>
                <a:cs typeface="Poppins"/>
                <a:sym typeface="Poppins"/>
              </a:rPr>
              <a:t>However, static analysis tools often produce a large number of alerts, many of which are false positives.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a:p>
            <a:pPr indent="-565329" lvl="0" marL="909361" marR="0" rtl="0" algn="l">
              <a:lnSpc>
                <a:spcPct val="100000"/>
              </a:lnSpc>
              <a:spcBef>
                <a:spcPts val="0"/>
              </a:spcBef>
              <a:spcAft>
                <a:spcPts val="0"/>
              </a:spcAft>
              <a:buClr>
                <a:srgbClr val="000000"/>
              </a:buClr>
              <a:buSzPts val="1400"/>
              <a:buFont typeface="Courier New"/>
              <a:buChar char="o"/>
            </a:pPr>
            <a:r>
              <a:rPr b="0" i="0" lang="en-US" sz="1400" u="none" cap="none" strike="noStrike">
                <a:solidFill>
                  <a:srgbClr val="000000"/>
                </a:solidFill>
                <a:latin typeface="Poppins"/>
                <a:ea typeface="Poppins"/>
                <a:cs typeface="Poppins"/>
                <a:sym typeface="Poppins"/>
              </a:rPr>
              <a:t>Studies show that 30–60% of static analysis alerts may be false positives, which significantly reduces developer trust in these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a:p>
            <a:pPr indent="-565329" lvl="0" marL="909361" marR="0" rtl="0" algn="l">
              <a:lnSpc>
                <a:spcPct val="100000"/>
              </a:lnSpc>
              <a:spcBef>
                <a:spcPts val="0"/>
              </a:spcBef>
              <a:spcAft>
                <a:spcPts val="0"/>
              </a:spcAft>
              <a:buClr>
                <a:srgbClr val="000000"/>
              </a:buClr>
              <a:buSzPts val="1400"/>
              <a:buFont typeface="Courier New"/>
              <a:buChar char="o"/>
            </a:pPr>
            <a:r>
              <a:rPr b="0" i="0" lang="en-US" sz="1400" u="none" cap="none" strike="noStrike">
                <a:solidFill>
                  <a:srgbClr val="000000"/>
                </a:solidFill>
                <a:latin typeface="Poppins"/>
                <a:ea typeface="Poppins"/>
                <a:cs typeface="Poppins"/>
                <a:sym typeface="Poppins"/>
              </a:rPr>
              <a:t>As a result, developers may ignore alerts, causing real vulnerabilities to remain undetected.</a:t>
            </a:r>
            <a:endParaRPr b="0" i="0" sz="14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title"/>
          </p:nvPr>
        </p:nvSpPr>
        <p:spPr>
          <a:xfrm>
            <a:off x="2249725" y="376550"/>
            <a:ext cx="48624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3600"/>
              <a:buFont typeface="Poppins"/>
              <a:buNone/>
            </a:pPr>
            <a:r>
              <a:rPr b="1" lang="en-US" sz="3600">
                <a:solidFill>
                  <a:srgbClr val="1F2020"/>
                </a:solidFill>
                <a:latin typeface="Poppins"/>
                <a:ea typeface="Poppins"/>
                <a:cs typeface="Poppins"/>
                <a:sym typeface="Poppins"/>
              </a:rPr>
              <a:t>Introduction</a:t>
            </a:r>
            <a:br>
              <a:rPr lang="en-US" sz="3600"/>
            </a:br>
            <a:endParaRPr b="0" sz="3600" strike="noStrike">
              <a:solidFill>
                <a:srgbClr val="000000"/>
              </a:solidFill>
              <a:latin typeface="Arial"/>
              <a:ea typeface="Arial"/>
              <a:cs typeface="Arial"/>
              <a:sym typeface="Arial"/>
            </a:endParaRPr>
          </a:p>
        </p:txBody>
      </p:sp>
      <p:sp>
        <p:nvSpPr>
          <p:cNvPr id="80" name="Google Shape;80;p14"/>
          <p:cNvSpPr/>
          <p:nvPr/>
        </p:nvSpPr>
        <p:spPr>
          <a:xfrm>
            <a:off x="164155" y="1238050"/>
            <a:ext cx="4059600" cy="3518700"/>
          </a:xfrm>
          <a:prstGeom prst="rect">
            <a:avLst/>
          </a:prstGeom>
          <a:noFill/>
          <a:ln>
            <a:noFill/>
          </a:ln>
        </p:spPr>
        <p:txBody>
          <a:bodyPr anchorCtr="0" anchor="t" bIns="45000" lIns="90000" spcFirstLastPara="1" rIns="90000" wrap="square" tIns="45000">
            <a:noAutofit/>
          </a:bodyPr>
          <a:lstStyle/>
          <a:p>
            <a:pPr indent="0" lvl="0" marL="457200" marR="0" rtl="0" algn="l">
              <a:lnSpc>
                <a:spcPct val="115000"/>
              </a:lnSpc>
              <a:spcBef>
                <a:spcPts val="1200"/>
              </a:spcBef>
              <a:spcAft>
                <a:spcPts val="0"/>
              </a:spcAft>
              <a:buClr>
                <a:srgbClr val="000000"/>
              </a:buClr>
              <a:buSzPts val="1500"/>
              <a:buFont typeface="Arial"/>
              <a:buNone/>
            </a:pPr>
            <a:r>
              <a:rPr b="0" i="0" lang="en-US" sz="1500" u="none" cap="none" strike="noStrike">
                <a:solidFill>
                  <a:srgbClr val="000000"/>
                </a:solidFill>
                <a:latin typeface="Poppins"/>
                <a:ea typeface="Poppins"/>
                <a:cs typeface="Poppins"/>
                <a:sym typeface="Poppins"/>
              </a:rPr>
              <a:t>Therefore, an effective vulnerability detection system must:</a:t>
            </a:r>
            <a:endParaRPr b="0" i="0" sz="1500" u="none" cap="none" strike="noStrike">
              <a:solidFill>
                <a:srgbClr val="000000"/>
              </a:solidFill>
              <a:latin typeface="Poppins"/>
              <a:ea typeface="Poppins"/>
              <a:cs typeface="Poppins"/>
              <a:sym typeface="Poppins"/>
            </a:endParaRPr>
          </a:p>
          <a:p>
            <a:pPr indent="-298450" lvl="0" marL="914400" marR="0" rtl="0" algn="l">
              <a:lnSpc>
                <a:spcPct val="115000"/>
              </a:lnSpc>
              <a:spcBef>
                <a:spcPts val="1200"/>
              </a:spcBef>
              <a:spcAft>
                <a:spcPts val="0"/>
              </a:spcAft>
              <a:buClr>
                <a:srgbClr val="000000"/>
              </a:buClr>
              <a:buSzPts val="1100"/>
              <a:buFont typeface="Arial"/>
              <a:buChar char="●"/>
            </a:pPr>
            <a:r>
              <a:rPr b="0" i="0" lang="en-US" sz="1500" u="none" cap="none" strike="noStrike">
                <a:solidFill>
                  <a:srgbClr val="000000"/>
                </a:solidFill>
                <a:latin typeface="Poppins"/>
                <a:ea typeface="Poppins"/>
                <a:cs typeface="Poppins"/>
                <a:sym typeface="Poppins"/>
              </a:rPr>
              <a:t>reduce false positives</a:t>
            </a:r>
            <a:br>
              <a:rPr b="0" i="0" lang="en-US" sz="1500" u="none" cap="none" strike="noStrike">
                <a:solidFill>
                  <a:srgbClr val="000000"/>
                </a:solidFill>
                <a:latin typeface="Poppins"/>
                <a:ea typeface="Poppins"/>
                <a:cs typeface="Poppins"/>
                <a:sym typeface="Poppins"/>
              </a:rPr>
            </a:br>
            <a:endParaRPr b="0" i="0" sz="1500" u="none" cap="none" strike="noStrike">
              <a:solidFill>
                <a:srgbClr val="000000"/>
              </a:solidFill>
              <a:latin typeface="Poppins"/>
              <a:ea typeface="Poppins"/>
              <a:cs typeface="Poppins"/>
              <a:sym typeface="Poppins"/>
            </a:endParaRPr>
          </a:p>
          <a:p>
            <a:pPr indent="-298450" lvl="0" marL="914400" marR="0" rtl="0" algn="l">
              <a:lnSpc>
                <a:spcPct val="115000"/>
              </a:lnSpc>
              <a:spcBef>
                <a:spcPts val="0"/>
              </a:spcBef>
              <a:spcAft>
                <a:spcPts val="0"/>
              </a:spcAft>
              <a:buClr>
                <a:srgbClr val="000000"/>
              </a:buClr>
              <a:buSzPts val="1100"/>
              <a:buFont typeface="Arial"/>
              <a:buChar char="●"/>
            </a:pPr>
            <a:r>
              <a:rPr b="0" i="0" lang="en-US" sz="1500" u="none" cap="none" strike="noStrike">
                <a:solidFill>
                  <a:srgbClr val="000000"/>
                </a:solidFill>
                <a:latin typeface="Poppins"/>
                <a:ea typeface="Poppins"/>
                <a:cs typeface="Poppins"/>
                <a:sym typeface="Poppins"/>
              </a:rPr>
              <a:t>prioritize actionable vulnerabilities</a:t>
            </a:r>
            <a:br>
              <a:rPr b="0" i="0" lang="en-US" sz="1500" u="none" cap="none" strike="noStrike">
                <a:solidFill>
                  <a:srgbClr val="000000"/>
                </a:solidFill>
                <a:latin typeface="Poppins"/>
                <a:ea typeface="Poppins"/>
                <a:cs typeface="Poppins"/>
                <a:sym typeface="Poppins"/>
              </a:rPr>
            </a:br>
            <a:endParaRPr b="0" i="0" sz="1500" u="none" cap="none" strike="noStrike">
              <a:solidFill>
                <a:srgbClr val="000000"/>
              </a:solidFill>
              <a:latin typeface="Poppins"/>
              <a:ea typeface="Poppins"/>
              <a:cs typeface="Poppins"/>
              <a:sym typeface="Poppins"/>
            </a:endParaRPr>
          </a:p>
          <a:p>
            <a:pPr indent="-298450" lvl="0" marL="914400" marR="0" rtl="0" algn="l">
              <a:lnSpc>
                <a:spcPct val="115000"/>
              </a:lnSpc>
              <a:spcBef>
                <a:spcPts val="0"/>
              </a:spcBef>
              <a:spcAft>
                <a:spcPts val="0"/>
              </a:spcAft>
              <a:buClr>
                <a:srgbClr val="000000"/>
              </a:buClr>
              <a:buSzPts val="1100"/>
              <a:buFont typeface="Arial"/>
              <a:buChar char="●"/>
            </a:pPr>
            <a:r>
              <a:rPr b="0" i="0" lang="en-US" sz="1500" u="none" cap="none" strike="noStrike">
                <a:solidFill>
                  <a:srgbClr val="000000"/>
                </a:solidFill>
                <a:latin typeface="Poppins"/>
                <a:ea typeface="Poppins"/>
                <a:cs typeface="Poppins"/>
                <a:sym typeface="Poppins"/>
              </a:rPr>
              <a:t>integrate with modern development workflows.</a:t>
            </a:r>
            <a:endParaRPr b="0" i="0" sz="15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500"/>
              <a:buFont typeface="Arial"/>
              <a:buNone/>
            </a:pPr>
            <a:r>
              <a:t/>
            </a:r>
            <a:endParaRPr b="0" i="0" sz="15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81" name="Google Shape;81;p14"/>
          <p:cNvPicPr preferRelativeResize="0"/>
          <p:nvPr/>
        </p:nvPicPr>
        <p:blipFill rotWithShape="1">
          <a:blip r:embed="rId3">
            <a:alphaModFix/>
          </a:blip>
          <a:srcRect b="0" l="0" r="0" t="0"/>
          <a:stretch/>
        </p:blipFill>
        <p:spPr>
          <a:xfrm>
            <a:off x="4296225" y="1598250"/>
            <a:ext cx="4470401" cy="2653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idx="4294967295" type="title"/>
          </p:nvPr>
        </p:nvSpPr>
        <p:spPr>
          <a:xfrm>
            <a:off x="2246040" y="1856160"/>
            <a:ext cx="6184500" cy="1024200"/>
          </a:xfrm>
          <a:prstGeom prst="rect">
            <a:avLst/>
          </a:prstGeom>
          <a:solidFill>
            <a:schemeClr val="dk1"/>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Clr>
                <a:schemeClr val="lt1"/>
              </a:buClr>
              <a:buSzPts val="3600"/>
              <a:buFont typeface="Figtree Black"/>
              <a:buNone/>
            </a:pPr>
            <a:r>
              <a:rPr b="0" i="0" lang="en-US" sz="3700" u="none" cap="none" strike="noStrike">
                <a:solidFill>
                  <a:schemeClr val="lt1"/>
                </a:solidFill>
                <a:latin typeface="Figtree Black"/>
                <a:ea typeface="Figtree Black"/>
                <a:cs typeface="Figtree Black"/>
                <a:sym typeface="Figtree Black"/>
              </a:rPr>
              <a:t>Part </a:t>
            </a:r>
            <a:r>
              <a:rPr lang="en-US" sz="3700">
                <a:solidFill>
                  <a:schemeClr val="lt1"/>
                </a:solidFill>
                <a:latin typeface="Figtree Black"/>
                <a:ea typeface="Figtree Black"/>
                <a:cs typeface="Figtree Black"/>
                <a:sym typeface="Figtree Black"/>
              </a:rPr>
              <a:t>2</a:t>
            </a:r>
            <a:r>
              <a:rPr b="0" i="0" lang="en-US" sz="3700" u="none" cap="none" strike="noStrike">
                <a:solidFill>
                  <a:schemeClr val="lt1"/>
                </a:solidFill>
                <a:latin typeface="Figtree Black"/>
                <a:ea typeface="Figtree Black"/>
                <a:cs typeface="Figtree Black"/>
                <a:sym typeface="Figtree Black"/>
              </a:rPr>
              <a:t>: </a:t>
            </a:r>
            <a:r>
              <a:rPr b="1" lang="en-US" sz="3700">
                <a:solidFill>
                  <a:schemeClr val="lt1"/>
                </a:solidFill>
                <a:latin typeface="Poppins"/>
                <a:ea typeface="Poppins"/>
                <a:cs typeface="Poppins"/>
                <a:sym typeface="Poppins"/>
              </a:rPr>
              <a:t>Previous Work</a:t>
            </a:r>
            <a:endParaRPr b="0" i="0" sz="37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2249725" y="376550"/>
            <a:ext cx="48624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3600"/>
              <a:buFont typeface="Poppins"/>
              <a:buNone/>
            </a:pPr>
            <a:r>
              <a:rPr b="1" lang="en-US" sz="3600">
                <a:solidFill>
                  <a:srgbClr val="1F2020"/>
                </a:solidFill>
                <a:latin typeface="Poppins"/>
                <a:ea typeface="Poppins"/>
                <a:cs typeface="Poppins"/>
                <a:sym typeface="Poppins"/>
              </a:rPr>
              <a:t>Previous work</a:t>
            </a:r>
            <a:br>
              <a:rPr lang="en-US" sz="3600"/>
            </a:br>
            <a:endParaRPr b="0" sz="3600" strike="noStrike">
              <a:solidFill>
                <a:srgbClr val="000000"/>
              </a:solidFill>
              <a:latin typeface="Arial"/>
              <a:ea typeface="Arial"/>
              <a:cs typeface="Arial"/>
              <a:sym typeface="Arial"/>
            </a:endParaRPr>
          </a:p>
        </p:txBody>
      </p:sp>
      <p:sp>
        <p:nvSpPr>
          <p:cNvPr id="92" name="Google Shape;92;p16"/>
          <p:cNvSpPr/>
          <p:nvPr/>
        </p:nvSpPr>
        <p:spPr>
          <a:xfrm>
            <a:off x="362549" y="1238050"/>
            <a:ext cx="4698000" cy="35187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600"/>
              <a:buFont typeface="Arial"/>
              <a:buNone/>
            </a:pPr>
            <a:r>
              <a:rPr b="1" i="0" lang="en-US" sz="1500" u="sng" cap="none" strike="noStrike">
                <a:solidFill>
                  <a:schemeClr val="dk1"/>
                </a:solidFill>
                <a:latin typeface="Poppins"/>
                <a:ea typeface="Poppins"/>
                <a:cs typeface="Poppins"/>
                <a:sym typeface="Poppins"/>
              </a:rPr>
              <a:t>1. Hybrid Model Reduces False Positives</a:t>
            </a:r>
            <a:endParaRPr b="0" i="0" sz="1500" u="none" cap="none" strike="noStrike">
              <a:solidFill>
                <a:srgbClr val="000000"/>
              </a:solidFill>
              <a:latin typeface="Poppins"/>
              <a:ea typeface="Poppins"/>
              <a:cs typeface="Poppins"/>
              <a:sym typeface="Poppins"/>
            </a:endParaRPr>
          </a:p>
          <a:p>
            <a:pPr indent="0" lvl="0" marL="158760" marR="0" rtl="0" algn="l">
              <a:lnSpc>
                <a:spcPct val="100000"/>
              </a:lnSpc>
              <a:spcBef>
                <a:spcPts val="1199"/>
              </a:spcBef>
              <a:spcAft>
                <a:spcPts val="0"/>
              </a:spcAft>
              <a:buClr>
                <a:srgbClr val="000000"/>
              </a:buClr>
              <a:buSzPts val="1400"/>
              <a:buFont typeface="Arial"/>
              <a:buNone/>
            </a:pPr>
            <a:r>
              <a:rPr b="0" i="0" lang="en-US" sz="1300" u="none" cap="none" strike="noStrike">
                <a:solidFill>
                  <a:schemeClr val="dk1"/>
                </a:solidFill>
                <a:latin typeface="Poppins"/>
                <a:ea typeface="Poppins"/>
                <a:cs typeface="Poppins"/>
                <a:sym typeface="Poppins"/>
              </a:rPr>
              <a:t>Plain LLM overpredicts vulnerabilities → high FP</a:t>
            </a:r>
            <a:endParaRPr b="0" i="0" sz="1300" u="none" cap="none" strike="noStrike">
              <a:solidFill>
                <a:srgbClr val="000000"/>
              </a:solidFill>
              <a:latin typeface="Poppins"/>
              <a:ea typeface="Poppins"/>
              <a:cs typeface="Poppins"/>
              <a:sym typeface="Poppins"/>
            </a:endParaRPr>
          </a:p>
          <a:p>
            <a:pPr indent="0" lvl="0" marL="158760" marR="0" rtl="0" algn="l">
              <a:lnSpc>
                <a:spcPct val="100000"/>
              </a:lnSpc>
              <a:spcBef>
                <a:spcPts val="0"/>
              </a:spcBef>
              <a:spcAft>
                <a:spcPts val="0"/>
              </a:spcAft>
              <a:buClr>
                <a:srgbClr val="000000"/>
              </a:buClr>
              <a:buSzPts val="1400"/>
              <a:buFont typeface="Arial"/>
              <a:buNone/>
            </a:pPr>
            <a:r>
              <a:rPr b="0" i="0" lang="en-US" sz="1300" u="none" cap="none" strike="noStrike">
                <a:solidFill>
                  <a:schemeClr val="dk1"/>
                </a:solidFill>
                <a:latin typeface="Poppins"/>
                <a:ea typeface="Poppins"/>
                <a:cs typeface="Poppins"/>
                <a:sym typeface="Poppins"/>
              </a:rPr>
              <a:t>With static guidance, the LLM is </a:t>
            </a:r>
            <a:r>
              <a:rPr b="1" i="0" lang="en-US" sz="1300" u="none" cap="none" strike="noStrike">
                <a:solidFill>
                  <a:schemeClr val="dk1"/>
                </a:solidFill>
                <a:latin typeface="Poppins"/>
                <a:ea typeface="Poppins"/>
                <a:cs typeface="Poppins"/>
                <a:sym typeface="Poppins"/>
              </a:rPr>
              <a:t>restricted to likely vulnerabilities</a:t>
            </a:r>
            <a:endParaRPr b="0" i="0" sz="1300" u="none" cap="none" strike="noStrike">
              <a:solidFill>
                <a:srgbClr val="000000"/>
              </a:solidFill>
              <a:latin typeface="Poppins"/>
              <a:ea typeface="Poppins"/>
              <a:cs typeface="Poppins"/>
              <a:sym typeface="Poppins"/>
            </a:endParaRPr>
          </a:p>
          <a:p>
            <a:pPr indent="0" lvl="0" marL="158760" marR="0" rtl="0" algn="l">
              <a:lnSpc>
                <a:spcPct val="100000"/>
              </a:lnSpc>
              <a:spcBef>
                <a:spcPts val="0"/>
              </a:spcBef>
              <a:spcAft>
                <a:spcPts val="0"/>
              </a:spcAft>
              <a:buClr>
                <a:srgbClr val="000000"/>
              </a:buClr>
              <a:buSzPts val="1400"/>
              <a:buFont typeface="Arial"/>
              <a:buNone/>
            </a:pPr>
            <a:r>
              <a:rPr b="0" i="0" lang="en-US" sz="1300" u="none" cap="none" strike="noStrike">
                <a:solidFill>
                  <a:schemeClr val="dk1"/>
                </a:solidFill>
                <a:latin typeface="Poppins"/>
                <a:ea typeface="Poppins"/>
                <a:cs typeface="Poppins"/>
                <a:sym typeface="Poppins"/>
              </a:rPr>
              <a:t>Reduces noisy predictions and improves precision dramatically</a:t>
            </a:r>
            <a:endParaRPr b="0" i="0" sz="1300" u="none" cap="none" strike="noStrike">
              <a:solidFill>
                <a:srgbClr val="000000"/>
              </a:solidFill>
              <a:latin typeface="Poppins"/>
              <a:ea typeface="Poppins"/>
              <a:cs typeface="Poppins"/>
              <a:sym typeface="Poppins"/>
            </a:endParaRPr>
          </a:p>
          <a:p>
            <a:pPr indent="0" lvl="0" marL="0" marR="0" rtl="0" algn="l">
              <a:lnSpc>
                <a:spcPct val="100000"/>
              </a:lnSpc>
              <a:spcBef>
                <a:spcPts val="1400"/>
              </a:spcBef>
              <a:spcAft>
                <a:spcPts val="0"/>
              </a:spcAft>
              <a:buClr>
                <a:srgbClr val="000000"/>
              </a:buClr>
              <a:buSzPts val="1400"/>
              <a:buFont typeface="Arial"/>
              <a:buNone/>
            </a:pPr>
            <a:r>
              <a:rPr b="1" i="0" lang="en-US" sz="1300" u="none" cap="none" strike="noStrike">
                <a:solidFill>
                  <a:schemeClr val="dk1"/>
                </a:solidFill>
                <a:latin typeface="Poppins"/>
                <a:ea typeface="Poppins"/>
                <a:cs typeface="Poppins"/>
                <a:sym typeface="Poppins"/>
              </a:rPr>
              <a:t>2</a:t>
            </a:r>
            <a:r>
              <a:rPr b="1" i="0" lang="en-US" sz="1500" u="sng" cap="none" strike="noStrike">
                <a:solidFill>
                  <a:schemeClr val="dk1"/>
                </a:solidFill>
                <a:latin typeface="Poppins"/>
                <a:ea typeface="Poppins"/>
                <a:cs typeface="Poppins"/>
                <a:sym typeface="Poppins"/>
              </a:rPr>
              <a:t>. Hybrid Model Improves Recall</a:t>
            </a:r>
            <a:endParaRPr b="0" i="0" sz="1500" u="none" cap="none" strike="noStrike">
              <a:solidFill>
                <a:srgbClr val="000000"/>
              </a:solidFill>
              <a:latin typeface="Poppins"/>
              <a:ea typeface="Poppins"/>
              <a:cs typeface="Poppins"/>
              <a:sym typeface="Poppins"/>
            </a:endParaRPr>
          </a:p>
          <a:p>
            <a:pPr indent="0" lvl="0" marL="158760" marR="0" rtl="0" algn="l">
              <a:lnSpc>
                <a:spcPct val="100000"/>
              </a:lnSpc>
              <a:spcBef>
                <a:spcPts val="1199"/>
              </a:spcBef>
              <a:spcAft>
                <a:spcPts val="0"/>
              </a:spcAft>
              <a:buClr>
                <a:srgbClr val="000000"/>
              </a:buClr>
              <a:buSzPts val="1400"/>
              <a:buFont typeface="Arial"/>
              <a:buNone/>
            </a:pPr>
            <a:r>
              <a:rPr b="0" i="0" lang="en-US" sz="1300" u="none" cap="none" strike="noStrike">
                <a:solidFill>
                  <a:schemeClr val="dk1"/>
                </a:solidFill>
                <a:latin typeface="Poppins"/>
                <a:ea typeface="Poppins"/>
                <a:cs typeface="Poppins"/>
                <a:sym typeface="Poppins"/>
              </a:rPr>
              <a:t>Static tools catch shallow patterns LLM misses</a:t>
            </a:r>
            <a:endParaRPr b="0" i="0" sz="1300" u="none" cap="none" strike="noStrike">
              <a:solidFill>
                <a:srgbClr val="000000"/>
              </a:solidFill>
              <a:latin typeface="Poppins"/>
              <a:ea typeface="Poppins"/>
              <a:cs typeface="Poppins"/>
              <a:sym typeface="Poppins"/>
            </a:endParaRPr>
          </a:p>
          <a:p>
            <a:pPr indent="0" lvl="0" marL="158760" marR="0" rtl="0" algn="l">
              <a:lnSpc>
                <a:spcPct val="100000"/>
              </a:lnSpc>
              <a:spcBef>
                <a:spcPts val="0"/>
              </a:spcBef>
              <a:spcAft>
                <a:spcPts val="0"/>
              </a:spcAft>
              <a:buClr>
                <a:srgbClr val="000000"/>
              </a:buClr>
              <a:buSzPts val="1400"/>
              <a:buFont typeface="Arial"/>
              <a:buNone/>
            </a:pPr>
            <a:r>
              <a:rPr b="0" i="0" lang="en-US" sz="1300" u="none" cap="none" strike="noStrike">
                <a:solidFill>
                  <a:schemeClr val="dk1"/>
                </a:solidFill>
                <a:latin typeface="Poppins"/>
                <a:ea typeface="Poppins"/>
                <a:cs typeface="Poppins"/>
                <a:sym typeface="Poppins"/>
              </a:rPr>
              <a:t>LLM identifies semantic patterns static tools cannot</a:t>
            </a:r>
            <a:endParaRPr b="0" i="0" sz="1300" u="none" cap="none" strike="noStrike">
              <a:solidFill>
                <a:srgbClr val="000000"/>
              </a:solidFill>
              <a:latin typeface="Poppins"/>
              <a:ea typeface="Poppins"/>
              <a:cs typeface="Poppins"/>
              <a:sym typeface="Poppins"/>
            </a:endParaRPr>
          </a:p>
          <a:p>
            <a:pPr indent="0" lvl="0" marL="158760" marR="0" rtl="0" algn="l">
              <a:lnSpc>
                <a:spcPct val="100000"/>
              </a:lnSpc>
              <a:spcBef>
                <a:spcPts val="0"/>
              </a:spcBef>
              <a:spcAft>
                <a:spcPts val="0"/>
              </a:spcAft>
              <a:buClr>
                <a:srgbClr val="000000"/>
              </a:buClr>
              <a:buSzPts val="1400"/>
              <a:buFont typeface="Arial"/>
              <a:buNone/>
            </a:pPr>
            <a:r>
              <a:rPr b="0" i="0" lang="en-US" sz="1300" u="none" cap="none" strike="noStrike">
                <a:solidFill>
                  <a:schemeClr val="dk1"/>
                </a:solidFill>
                <a:latin typeface="Poppins"/>
                <a:ea typeface="Poppins"/>
                <a:cs typeface="Poppins"/>
                <a:sym typeface="Poppins"/>
              </a:rPr>
              <a:t>Combined, they cover </a:t>
            </a:r>
            <a:r>
              <a:rPr b="1" i="0" lang="en-US" sz="1300" u="none" cap="none" strike="noStrike">
                <a:solidFill>
                  <a:schemeClr val="dk1"/>
                </a:solidFill>
                <a:latin typeface="Poppins"/>
                <a:ea typeface="Poppins"/>
                <a:cs typeface="Poppins"/>
                <a:sym typeface="Poppins"/>
              </a:rPr>
              <a:t>more CWE types</a:t>
            </a:r>
            <a:r>
              <a:rPr b="0" i="0" lang="en-US" sz="1300" u="none" cap="none" strike="noStrike">
                <a:solidFill>
                  <a:schemeClr val="dk1"/>
                </a:solidFill>
                <a:latin typeface="Poppins"/>
                <a:ea typeface="Poppins"/>
                <a:cs typeface="Poppins"/>
                <a:sym typeface="Poppins"/>
              </a:rPr>
              <a:t> → higher recall</a:t>
            </a:r>
            <a:endParaRPr b="0" i="0" sz="1300" u="none" cap="none" strike="noStrike">
              <a:solidFill>
                <a:srgbClr val="000000"/>
              </a:solidFill>
              <a:latin typeface="Poppins"/>
              <a:ea typeface="Poppins"/>
              <a:cs typeface="Poppins"/>
              <a:sym typeface="Poppins"/>
            </a:endParaRPr>
          </a:p>
          <a:p>
            <a:pPr indent="0" lvl="0" marL="337680" marR="0" rtl="0" algn="l">
              <a:lnSpc>
                <a:spcPct val="100000"/>
              </a:lnSpc>
              <a:spcBef>
                <a:spcPts val="1199"/>
              </a:spcBef>
              <a:spcAft>
                <a:spcPts val="0"/>
              </a:spcAft>
              <a:buClr>
                <a:srgbClr val="000000"/>
              </a:buClr>
              <a:buSzPts val="1400"/>
              <a:buFont typeface="Arial"/>
              <a:buNone/>
            </a:pPr>
            <a:r>
              <a:t/>
            </a:r>
            <a:endParaRPr b="0" i="0" sz="1300" u="none" cap="none" strike="noStrike">
              <a:solidFill>
                <a:srgbClr val="000000"/>
              </a:solidFill>
              <a:latin typeface="Poppins"/>
              <a:ea typeface="Poppins"/>
              <a:cs typeface="Poppins"/>
              <a:sym typeface="Poppins"/>
            </a:endParaRPr>
          </a:p>
        </p:txBody>
      </p:sp>
      <p:pic>
        <p:nvPicPr>
          <p:cNvPr id="93" name="Google Shape;93;p16"/>
          <p:cNvPicPr preferRelativeResize="0"/>
          <p:nvPr/>
        </p:nvPicPr>
        <p:blipFill rotWithShape="1">
          <a:blip r:embed="rId3">
            <a:alphaModFix/>
          </a:blip>
          <a:srcRect b="0" l="0" r="0" t="0"/>
          <a:stretch/>
        </p:blipFill>
        <p:spPr>
          <a:xfrm>
            <a:off x="4875350" y="1238050"/>
            <a:ext cx="3949349" cy="2941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idx="4294967295" type="title"/>
          </p:nvPr>
        </p:nvSpPr>
        <p:spPr>
          <a:xfrm>
            <a:off x="2246040" y="1856160"/>
            <a:ext cx="6184500" cy="1024200"/>
          </a:xfrm>
          <a:prstGeom prst="rect">
            <a:avLst/>
          </a:prstGeom>
          <a:solidFill>
            <a:schemeClr val="dk1"/>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Clr>
                <a:schemeClr val="lt1"/>
              </a:buClr>
              <a:buSzPts val="3600"/>
              <a:buFont typeface="Figtree Black"/>
              <a:buNone/>
            </a:pPr>
            <a:r>
              <a:rPr b="0" i="0" lang="en-US" sz="3700" u="none" cap="none" strike="noStrike">
                <a:solidFill>
                  <a:schemeClr val="lt1"/>
                </a:solidFill>
                <a:latin typeface="Figtree Black"/>
                <a:ea typeface="Figtree Black"/>
                <a:cs typeface="Figtree Black"/>
                <a:sym typeface="Figtree Black"/>
              </a:rPr>
              <a:t>Part </a:t>
            </a:r>
            <a:r>
              <a:rPr lang="en-US" sz="3700">
                <a:solidFill>
                  <a:schemeClr val="lt1"/>
                </a:solidFill>
                <a:latin typeface="Figtree Black"/>
                <a:ea typeface="Figtree Black"/>
                <a:cs typeface="Figtree Black"/>
                <a:sym typeface="Figtree Black"/>
              </a:rPr>
              <a:t>3</a:t>
            </a:r>
            <a:r>
              <a:rPr b="0" i="0" lang="en-US" sz="3700" u="none" cap="none" strike="noStrike">
                <a:solidFill>
                  <a:schemeClr val="lt1"/>
                </a:solidFill>
                <a:latin typeface="Figtree Black"/>
                <a:ea typeface="Figtree Black"/>
                <a:cs typeface="Figtree Black"/>
                <a:sym typeface="Figtree Black"/>
              </a:rPr>
              <a:t>: </a:t>
            </a:r>
            <a:r>
              <a:rPr b="1" lang="en-US" sz="3700">
                <a:solidFill>
                  <a:schemeClr val="lt1"/>
                </a:solidFill>
                <a:latin typeface="Poppins"/>
                <a:ea typeface="Poppins"/>
                <a:cs typeface="Poppins"/>
                <a:sym typeface="Poppins"/>
              </a:rPr>
              <a:t>Research Gap</a:t>
            </a:r>
            <a:endParaRPr b="0" i="0" sz="37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2249725" y="376550"/>
            <a:ext cx="48624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3600"/>
              <a:buFont typeface="Poppins"/>
              <a:buNone/>
            </a:pPr>
            <a:r>
              <a:rPr b="1" lang="en-US" sz="3600">
                <a:solidFill>
                  <a:srgbClr val="1F2020"/>
                </a:solidFill>
                <a:latin typeface="Poppins"/>
                <a:ea typeface="Poppins"/>
                <a:cs typeface="Poppins"/>
                <a:sym typeface="Poppins"/>
              </a:rPr>
              <a:t>Research Gap</a:t>
            </a:r>
            <a:endParaRPr b="0" sz="3600" strike="noStrike">
              <a:solidFill>
                <a:srgbClr val="000000"/>
              </a:solidFill>
              <a:latin typeface="Arial"/>
              <a:ea typeface="Arial"/>
              <a:cs typeface="Arial"/>
              <a:sym typeface="Arial"/>
            </a:endParaRPr>
          </a:p>
        </p:txBody>
      </p:sp>
      <p:sp>
        <p:nvSpPr>
          <p:cNvPr id="104" name="Google Shape;104;p18"/>
          <p:cNvSpPr/>
          <p:nvPr/>
        </p:nvSpPr>
        <p:spPr>
          <a:xfrm>
            <a:off x="399027" y="1223515"/>
            <a:ext cx="8542800" cy="35187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Static analysis tools such as CodeQL and SonarQube are widely used for vulnerability detection in source code. However, these tools often generate a large number of alerts, many of which are false positives.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Existing research has attempted to address this issue using machine learning models to classify static analysis alerts as true or false positives. These approaches demonstrate that machine learning can significantly improve the precision of vulnerability detection.</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However, several limitations remain:</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Most studies evaluate machine learning models </a:t>
            </a:r>
            <a:r>
              <a:rPr b="1" i="0" lang="en-US" sz="1100" u="none" cap="none" strike="noStrike">
                <a:solidFill>
                  <a:srgbClr val="000000"/>
                </a:solidFill>
                <a:latin typeface="Poppins"/>
                <a:ea typeface="Poppins"/>
                <a:cs typeface="Poppins"/>
                <a:sym typeface="Poppins"/>
              </a:rPr>
              <a:t>offline on static datasets</a:t>
            </a:r>
            <a:endParaRPr b="1"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Static analysis tools still produce </a:t>
            </a:r>
            <a:r>
              <a:rPr b="1" i="0" lang="en-US" sz="1100" u="none" cap="none" strike="noStrike">
                <a:solidFill>
                  <a:srgbClr val="000000"/>
                </a:solidFill>
                <a:latin typeface="Poppins"/>
                <a:ea typeface="Poppins"/>
                <a:cs typeface="Poppins"/>
                <a:sym typeface="Poppins"/>
              </a:rPr>
              <a:t>large volumes of alerts without prioritization</a:t>
            </a:r>
            <a:endParaRPr b="1"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Existing systems are not integrated with </a:t>
            </a:r>
            <a:r>
              <a:rPr b="1" i="0" lang="en-US" sz="1100" u="none" cap="none" strike="noStrike">
                <a:solidFill>
                  <a:srgbClr val="000000"/>
                </a:solidFill>
                <a:latin typeface="Poppins"/>
                <a:ea typeface="Poppins"/>
                <a:cs typeface="Poppins"/>
                <a:sym typeface="Poppins"/>
              </a:rPr>
              <a:t>real development workflows</a:t>
            </a:r>
            <a:endParaRPr b="1"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Vulnerability detection pipelines rarely operate </a:t>
            </a:r>
            <a:r>
              <a:rPr b="1" i="0" lang="en-US" sz="1100" u="none" cap="none" strike="noStrike">
                <a:solidFill>
                  <a:srgbClr val="000000"/>
                </a:solidFill>
                <a:latin typeface="Poppins"/>
                <a:ea typeface="Poppins"/>
                <a:cs typeface="Poppins"/>
                <a:sym typeface="Poppins"/>
              </a:rPr>
              <a:t>at the commit level in real time</a:t>
            </a:r>
            <a:br>
              <a:rPr b="1" i="0" lang="en-US" sz="1100" u="none" cap="none" strike="noStrike">
                <a:solidFill>
                  <a:srgbClr val="000000"/>
                </a:solidFill>
                <a:latin typeface="Poppins"/>
                <a:ea typeface="Poppins"/>
                <a:cs typeface="Poppins"/>
                <a:sym typeface="Poppins"/>
              </a:rPr>
            </a:br>
            <a:endParaRPr b="1"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As a result, developers continue to experience </a:t>
            </a:r>
            <a:r>
              <a:rPr b="1" i="0" lang="en-US" sz="1100" u="none" cap="none" strike="noStrike">
                <a:solidFill>
                  <a:srgbClr val="000000"/>
                </a:solidFill>
                <a:latin typeface="Poppins"/>
                <a:ea typeface="Poppins"/>
                <a:cs typeface="Poppins"/>
                <a:sym typeface="Poppins"/>
              </a:rPr>
              <a:t>alert fatigue</a:t>
            </a:r>
            <a:r>
              <a:rPr b="0" i="0" lang="en-US" sz="1100" u="none" cap="none" strike="noStrike">
                <a:solidFill>
                  <a:srgbClr val="000000"/>
                </a:solidFill>
                <a:latin typeface="Poppins"/>
                <a:ea typeface="Poppins"/>
                <a:cs typeface="Poppins"/>
                <a:sym typeface="Poppins"/>
              </a:rPr>
              <a:t>, and important vulnerabilities may be overlooked.</a:t>
            </a:r>
            <a:endParaRPr b="0" i="0" sz="1100" u="none" cap="none" strike="noStrike">
              <a:solidFill>
                <a:srgbClr val="000000"/>
              </a:solidFill>
              <a:latin typeface="Poppins"/>
              <a:ea typeface="Poppins"/>
              <a:cs typeface="Poppins"/>
              <a:sym typeface="Poppins"/>
            </a:endParaRPr>
          </a:p>
          <a:p>
            <a:pPr indent="0" lvl="0" marL="457200" marR="0" rtl="0" algn="l">
              <a:lnSpc>
                <a:spcPct val="100000"/>
              </a:lnSpc>
              <a:spcBef>
                <a:spcPts val="1200"/>
              </a:spcBef>
              <a:spcAft>
                <a:spcPts val="0"/>
              </a:spcAft>
              <a:buClr>
                <a:srgbClr val="000000"/>
              </a:buClr>
              <a:buSzPts val="1500"/>
              <a:buFont typeface="Arial"/>
              <a:buNone/>
            </a:pPr>
            <a:r>
              <a:t/>
            </a:r>
            <a:endParaRPr b="0" i="0" sz="1100" u="none" cap="none" strike="noStrik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2249725" y="376550"/>
            <a:ext cx="48624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3600"/>
              <a:buFont typeface="Poppins"/>
              <a:buNone/>
            </a:pPr>
            <a:r>
              <a:rPr b="1" lang="en-US" sz="3600">
                <a:solidFill>
                  <a:srgbClr val="1F2020"/>
                </a:solidFill>
                <a:latin typeface="Poppins"/>
                <a:ea typeface="Poppins"/>
                <a:cs typeface="Poppins"/>
                <a:sym typeface="Poppins"/>
              </a:rPr>
              <a:t>Our Approach</a:t>
            </a:r>
            <a:endParaRPr b="0" sz="3600" strike="noStrike">
              <a:solidFill>
                <a:srgbClr val="000000"/>
              </a:solidFill>
              <a:latin typeface="Arial"/>
              <a:ea typeface="Arial"/>
              <a:cs typeface="Arial"/>
              <a:sym typeface="Arial"/>
            </a:endParaRPr>
          </a:p>
        </p:txBody>
      </p:sp>
      <p:sp>
        <p:nvSpPr>
          <p:cNvPr id="110" name="Google Shape;110;p19"/>
          <p:cNvSpPr/>
          <p:nvPr/>
        </p:nvSpPr>
        <p:spPr>
          <a:xfrm>
            <a:off x="409535" y="1223515"/>
            <a:ext cx="8542800" cy="35187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To address these limitations, this project proposes a </a:t>
            </a:r>
            <a:r>
              <a:rPr b="1" i="0" lang="en-US" sz="1100" u="none" cap="none" strike="noStrike">
                <a:solidFill>
                  <a:srgbClr val="000000"/>
                </a:solidFill>
                <a:latin typeface="Poppins"/>
                <a:ea typeface="Poppins"/>
                <a:cs typeface="Poppins"/>
                <a:sym typeface="Poppins"/>
              </a:rPr>
              <a:t>vulnerability triage pipeline that combines static analysis with machine learning-based alert prioritization</a:t>
            </a:r>
            <a:r>
              <a:rPr b="0" i="0" lang="en-US" sz="1100" u="none" cap="none" strike="noStrike">
                <a:solidFill>
                  <a:srgbClr val="000000"/>
                </a:solidFill>
                <a:latin typeface="Poppins"/>
                <a:ea typeface="Poppins"/>
                <a:cs typeface="Poppins"/>
                <a:sym typeface="Poppins"/>
              </a:rPr>
              <a:t>.</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 system introduces the following improvements:</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Machine learning models are used to </a:t>
            </a:r>
            <a:r>
              <a:rPr b="1" i="0" lang="en-US" sz="1100" u="none" cap="none" strike="noStrike">
                <a:solidFill>
                  <a:srgbClr val="000000"/>
                </a:solidFill>
                <a:latin typeface="Poppins"/>
                <a:ea typeface="Poppins"/>
                <a:cs typeface="Poppins"/>
                <a:sym typeface="Poppins"/>
              </a:rPr>
              <a:t>filter and prioritize static analysis alerts</a:t>
            </a:r>
            <a:endParaRPr b="1"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Contextual code features are extracted to improve classification accuracy</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The system operates on </a:t>
            </a:r>
            <a:r>
              <a:rPr b="1" i="0" lang="en-US" sz="1100" u="none" cap="none" strike="noStrike">
                <a:solidFill>
                  <a:srgbClr val="000000"/>
                </a:solidFill>
                <a:latin typeface="Poppins"/>
                <a:ea typeface="Poppins"/>
                <a:cs typeface="Poppins"/>
                <a:sym typeface="Poppins"/>
              </a:rPr>
              <a:t>code commits</a:t>
            </a:r>
            <a:r>
              <a:rPr b="0" i="0" lang="en-US" sz="1100" u="none" cap="none" strike="noStrike">
                <a:solidFill>
                  <a:srgbClr val="000000"/>
                </a:solidFill>
                <a:latin typeface="Poppins"/>
                <a:ea typeface="Poppins"/>
                <a:cs typeface="Poppins"/>
                <a:sym typeface="Poppins"/>
              </a:rPr>
              <a:t>, enabling incremental vulnerability analysis</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The pipeline outputs </a:t>
            </a:r>
            <a:r>
              <a:rPr b="1" i="0" lang="en-US" sz="1100" u="none" cap="none" strike="noStrike">
                <a:solidFill>
                  <a:srgbClr val="000000"/>
                </a:solidFill>
                <a:latin typeface="Poppins"/>
                <a:ea typeface="Poppins"/>
                <a:cs typeface="Poppins"/>
                <a:sym typeface="Poppins"/>
              </a:rPr>
              <a:t>actionable vulnerabilities with confidence scores</a:t>
            </a:r>
            <a:br>
              <a:rPr b="1" i="0" lang="en-US" sz="1100" u="none" cap="none" strike="noStrike">
                <a:solidFill>
                  <a:srgbClr val="000000"/>
                </a:solidFill>
                <a:latin typeface="Poppins"/>
                <a:ea typeface="Poppins"/>
                <a:cs typeface="Poppins"/>
                <a:sym typeface="Poppins"/>
              </a:rPr>
            </a:br>
            <a:endParaRPr b="1"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This approach aims to improve the </a:t>
            </a:r>
            <a:r>
              <a:rPr b="1" i="0" lang="en-US" sz="1100" u="none" cap="none" strike="noStrike">
                <a:solidFill>
                  <a:srgbClr val="000000"/>
                </a:solidFill>
                <a:latin typeface="Poppins"/>
                <a:ea typeface="Poppins"/>
                <a:cs typeface="Poppins"/>
                <a:sym typeface="Poppins"/>
              </a:rPr>
              <a:t>accuracy and practical usability of static analysis tools in modern development environments</a:t>
            </a:r>
            <a:r>
              <a:rPr b="0" i="0" lang="en-US" sz="1100" u="none" cap="none" strike="noStrike">
                <a:solidFill>
                  <a:srgbClr val="000000"/>
                </a:solidFill>
                <a:latin typeface="Poppins"/>
                <a:ea typeface="Poppins"/>
                <a:cs typeface="Poppins"/>
                <a:sym typeface="Poppins"/>
              </a:rPr>
              <a:t>.</a:t>
            </a:r>
            <a:endParaRPr b="0" i="0" sz="1100" u="none" cap="none" strike="noStrike">
              <a:solidFill>
                <a:srgbClr val="000000"/>
              </a:solidFill>
              <a:latin typeface="Poppins"/>
              <a:ea typeface="Poppins"/>
              <a:cs typeface="Poppins"/>
              <a:sym typeface="Poppins"/>
            </a:endParaRPr>
          </a:p>
          <a:p>
            <a:pPr indent="0" lvl="0" marL="457200" marR="0" rtl="0" algn="l">
              <a:lnSpc>
                <a:spcPct val="100000"/>
              </a:lnSpc>
              <a:spcBef>
                <a:spcPts val="1200"/>
              </a:spcBef>
              <a:spcAft>
                <a:spcPts val="0"/>
              </a:spcAft>
              <a:buClr>
                <a:srgbClr val="000000"/>
              </a:buClr>
              <a:buSzPts val="1500"/>
              <a:buFont typeface="Arial"/>
              <a:buNone/>
            </a:pPr>
            <a:r>
              <a:t/>
            </a:r>
            <a:endParaRPr b="0" i="0" sz="1100" u="none" cap="none" strike="noStrike">
              <a:solidFill>
                <a:srgbClr val="00000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idx="4294967295" type="title"/>
          </p:nvPr>
        </p:nvSpPr>
        <p:spPr>
          <a:xfrm>
            <a:off x="2246040" y="1856160"/>
            <a:ext cx="6184500" cy="1024200"/>
          </a:xfrm>
          <a:prstGeom prst="rect">
            <a:avLst/>
          </a:prstGeom>
          <a:solidFill>
            <a:schemeClr val="dk1"/>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Clr>
                <a:schemeClr val="lt1"/>
              </a:buClr>
              <a:buSzPts val="3600"/>
              <a:buFont typeface="Figtree Black"/>
              <a:buNone/>
            </a:pPr>
            <a:r>
              <a:rPr b="0" i="0" lang="en-US" sz="3700" u="none" cap="none" strike="noStrike">
                <a:solidFill>
                  <a:schemeClr val="lt1"/>
                </a:solidFill>
                <a:latin typeface="Figtree Black"/>
                <a:ea typeface="Figtree Black"/>
                <a:cs typeface="Figtree Black"/>
                <a:sym typeface="Figtree Black"/>
              </a:rPr>
              <a:t>Part </a:t>
            </a:r>
            <a:r>
              <a:rPr lang="en-US" sz="3700">
                <a:solidFill>
                  <a:schemeClr val="lt1"/>
                </a:solidFill>
                <a:latin typeface="Figtree Black"/>
                <a:ea typeface="Figtree Black"/>
                <a:cs typeface="Figtree Black"/>
                <a:sym typeface="Figtree Black"/>
              </a:rPr>
              <a:t>4</a:t>
            </a:r>
            <a:r>
              <a:rPr b="0" i="0" lang="en-US" sz="3700" u="none" cap="none" strike="noStrike">
                <a:solidFill>
                  <a:schemeClr val="lt1"/>
                </a:solidFill>
                <a:latin typeface="Figtree Black"/>
                <a:ea typeface="Figtree Black"/>
                <a:cs typeface="Figtree Black"/>
                <a:sym typeface="Figtree Black"/>
              </a:rPr>
              <a:t>: </a:t>
            </a:r>
            <a:r>
              <a:rPr b="1" i="0" lang="en-US" sz="3700" u="none" cap="none" strike="noStrike">
                <a:solidFill>
                  <a:schemeClr val="lt1"/>
                </a:solidFill>
                <a:latin typeface="Poppins"/>
                <a:ea typeface="Poppins"/>
                <a:cs typeface="Poppins"/>
                <a:sym typeface="Poppins"/>
              </a:rPr>
              <a:t>Literature Survey</a:t>
            </a:r>
            <a:endParaRPr b="0" i="0" sz="3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p:nvPr/>
        </p:nvSpPr>
        <p:spPr>
          <a:xfrm>
            <a:off x="1990800" y="265325"/>
            <a:ext cx="5397000" cy="585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Summary of Base Paper I</a:t>
            </a:r>
            <a:endParaRPr b="0" i="0" sz="3200" u="none" cap="none" strike="noStrike">
              <a:solidFill>
                <a:srgbClr val="000000"/>
              </a:solidFill>
              <a:latin typeface="Arial"/>
              <a:ea typeface="Arial"/>
              <a:cs typeface="Arial"/>
              <a:sym typeface="Arial"/>
            </a:endParaRPr>
          </a:p>
        </p:txBody>
      </p:sp>
      <p:sp>
        <p:nvSpPr>
          <p:cNvPr id="121" name="Google Shape;121;p21"/>
          <p:cNvSpPr/>
          <p:nvPr/>
        </p:nvSpPr>
        <p:spPr>
          <a:xfrm>
            <a:off x="701640" y="856440"/>
            <a:ext cx="7740300" cy="750900"/>
          </a:xfrm>
          <a:prstGeom prst="rect">
            <a:avLst/>
          </a:prstGeom>
          <a:noFill/>
          <a:ln>
            <a:noFill/>
          </a:ln>
        </p:spPr>
        <p:txBody>
          <a:bodyPr anchorCtr="0" anchor="t" bIns="0" lIns="0" spcFirstLastPara="1" rIns="0" wrap="square" tIns="0">
            <a:noAutofit/>
          </a:bodyPr>
          <a:lstStyle/>
          <a:p>
            <a:pPr indent="0" lvl="0" marL="0" marR="0" rtl="0" algn="just">
              <a:lnSpc>
                <a:spcPct val="137000"/>
              </a:lnSpc>
              <a:spcBef>
                <a:spcPts val="0"/>
              </a:spcBef>
              <a:spcAft>
                <a:spcPts val="0"/>
              </a:spcAft>
              <a:buClr>
                <a:srgbClr val="000000"/>
              </a:buClr>
              <a:buSzPts val="1200"/>
              <a:buFont typeface="Arial"/>
              <a:buNone/>
            </a:pPr>
            <a:r>
              <a:rPr b="0" i="1" lang="en-US" sz="1200" u="none" cap="none" strike="noStrike">
                <a:solidFill>
                  <a:srgbClr val="1F2020"/>
                </a:solidFill>
                <a:latin typeface="Arial"/>
                <a:ea typeface="Arial"/>
                <a:cs typeface="Arial"/>
                <a:sym typeface="Arial"/>
              </a:rPr>
              <a:t>Static Code Analysis Alarms Filtering Reloaded:</a:t>
            </a:r>
            <a:endParaRPr b="0" i="1" sz="1200" u="none" cap="none" strike="noStrike">
              <a:solidFill>
                <a:srgbClr val="1F2020"/>
              </a:solidFill>
              <a:latin typeface="Arial"/>
              <a:ea typeface="Arial"/>
              <a:cs typeface="Arial"/>
              <a:sym typeface="Arial"/>
            </a:endParaRPr>
          </a:p>
          <a:p>
            <a:pPr indent="0" lvl="0" marL="0" marR="0" rtl="0" algn="just">
              <a:lnSpc>
                <a:spcPct val="137000"/>
              </a:lnSpc>
              <a:spcBef>
                <a:spcPts val="0"/>
              </a:spcBef>
              <a:spcAft>
                <a:spcPts val="0"/>
              </a:spcAft>
              <a:buClr>
                <a:srgbClr val="000000"/>
              </a:buClr>
              <a:buSzPts val="1200"/>
              <a:buFont typeface="Arial"/>
              <a:buNone/>
            </a:pPr>
            <a:r>
              <a:rPr b="0" i="1" lang="en-US" sz="1200" u="none" cap="none" strike="noStrike">
                <a:solidFill>
                  <a:srgbClr val="1F2020"/>
                </a:solidFill>
                <a:latin typeface="Arial"/>
                <a:ea typeface="Arial"/>
                <a:cs typeface="Arial"/>
                <a:sym typeface="Arial"/>
              </a:rPr>
              <a:t>A New Real-World Dataset and</a:t>
            </a:r>
            <a:endParaRPr b="0" i="1" sz="1200" u="none" cap="none" strike="noStrike">
              <a:solidFill>
                <a:srgbClr val="1F2020"/>
              </a:solidFill>
              <a:latin typeface="Arial"/>
              <a:ea typeface="Arial"/>
              <a:cs typeface="Arial"/>
              <a:sym typeface="Arial"/>
            </a:endParaRPr>
          </a:p>
          <a:p>
            <a:pPr indent="0" lvl="0" marL="0" marR="0" rtl="0" algn="just">
              <a:lnSpc>
                <a:spcPct val="137000"/>
              </a:lnSpc>
              <a:spcBef>
                <a:spcPts val="0"/>
              </a:spcBef>
              <a:spcAft>
                <a:spcPts val="0"/>
              </a:spcAft>
              <a:buClr>
                <a:srgbClr val="000000"/>
              </a:buClr>
              <a:buSzPts val="1200"/>
              <a:buFont typeface="Arial"/>
              <a:buNone/>
            </a:pPr>
            <a:r>
              <a:rPr b="0" i="1" lang="en-US" sz="1200" u="none" cap="none" strike="noStrike">
                <a:solidFill>
                  <a:srgbClr val="1F2020"/>
                </a:solidFill>
                <a:latin typeface="Arial"/>
                <a:ea typeface="Arial"/>
                <a:cs typeface="Arial"/>
                <a:sym typeface="Arial"/>
              </a:rPr>
              <a:t>Its ML-Based Utilization</a:t>
            </a:r>
            <a:endParaRPr b="0" i="1" sz="1200" u="none" cap="none" strike="noStrike">
              <a:solidFill>
                <a:srgbClr val="1F2020"/>
              </a:solidFill>
              <a:latin typeface="Arial"/>
              <a:ea typeface="Arial"/>
              <a:cs typeface="Arial"/>
              <a:sym typeface="Arial"/>
            </a:endParaRPr>
          </a:p>
        </p:txBody>
      </p:sp>
      <p:sp>
        <p:nvSpPr>
          <p:cNvPr id="122" name="Google Shape;122;p21"/>
          <p:cNvSpPr/>
          <p:nvPr/>
        </p:nvSpPr>
        <p:spPr>
          <a:xfrm>
            <a:off x="358200" y="1912675"/>
            <a:ext cx="5397000" cy="2633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Static analysis tools often generate a large number of alerts, many of which are false positives.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This work proposes the use of </a:t>
            </a:r>
            <a:r>
              <a:rPr b="1" i="0" lang="en-US" sz="1100" u="none" cap="none" strike="noStrike">
                <a:solidFill>
                  <a:srgbClr val="000000"/>
                </a:solidFill>
                <a:latin typeface="Poppins"/>
                <a:ea typeface="Poppins"/>
                <a:cs typeface="Poppins"/>
                <a:sym typeface="Poppins"/>
              </a:rPr>
              <a:t>machine learning models to classify static analysis warnings</a:t>
            </a:r>
            <a:r>
              <a:rPr b="0" i="0" lang="en-US" sz="1100" u="none" cap="none" strike="noStrike">
                <a:solidFill>
                  <a:srgbClr val="000000"/>
                </a:solidFill>
                <a:latin typeface="Poppins"/>
                <a:ea typeface="Poppins"/>
                <a:cs typeface="Poppins"/>
                <a:sym typeface="Poppins"/>
              </a:rPr>
              <a:t>.</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Key contributions of the paper:</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creation of a </a:t>
            </a:r>
            <a:r>
              <a:rPr b="1" i="0" lang="en-US" sz="1100" u="none" cap="none" strike="noStrike">
                <a:solidFill>
                  <a:srgbClr val="000000"/>
                </a:solidFill>
                <a:latin typeface="Poppins"/>
                <a:ea typeface="Poppins"/>
                <a:cs typeface="Poppins"/>
                <a:sym typeface="Poppins"/>
              </a:rPr>
              <a:t>large dataset of labeled static analysis alerts</a:t>
            </a:r>
            <a:br>
              <a:rPr b="1" i="0" lang="en-US" sz="1100" u="none" cap="none" strike="noStrike">
                <a:solidFill>
                  <a:srgbClr val="000000"/>
                </a:solidFill>
                <a:latin typeface="Poppins"/>
                <a:ea typeface="Poppins"/>
                <a:cs typeface="Poppins"/>
                <a:sym typeface="Poppins"/>
              </a:rPr>
            </a:br>
            <a:r>
              <a:rPr b="0" i="0" lang="en-US" sz="1100" u="none" cap="none" strike="noStrike">
                <a:solidFill>
                  <a:srgbClr val="000000"/>
                </a:solidFill>
                <a:latin typeface="Poppins"/>
                <a:ea typeface="Poppins"/>
                <a:cs typeface="Poppins"/>
                <a:sym typeface="Poppins"/>
              </a:rPr>
              <a:t>alerts labeled using developer actions (fixed vs ignored)</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machine learning models trained to classify alerts as </a:t>
            </a:r>
            <a:r>
              <a:rPr b="1" i="0" lang="en-US" sz="1100" u="none" cap="none" strike="noStrike">
                <a:solidFill>
                  <a:srgbClr val="000000"/>
                </a:solidFill>
                <a:latin typeface="Poppins"/>
                <a:ea typeface="Poppins"/>
                <a:cs typeface="Poppins"/>
                <a:sym typeface="Poppins"/>
              </a:rPr>
              <a:t>true or false positives</a:t>
            </a:r>
            <a:br>
              <a:rPr b="1" i="0" lang="en-US" sz="1100" u="none" cap="none" strike="noStrike">
                <a:solidFill>
                  <a:srgbClr val="000000"/>
                </a:solidFill>
                <a:latin typeface="Poppins"/>
                <a:ea typeface="Poppins"/>
                <a:cs typeface="Poppins"/>
                <a:sym typeface="Poppins"/>
              </a:rPr>
            </a:br>
            <a:endParaRPr b="1"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 results demonstrate that machine learning can significantly improve the usability of static analysis tools.</a:t>
            </a:r>
            <a:endParaRPr b="0" i="0" sz="1100" u="none" cap="none" strike="noStrike">
              <a:solidFill>
                <a:srgbClr val="000000"/>
              </a:solidFill>
              <a:latin typeface="Poppins"/>
              <a:ea typeface="Poppins"/>
              <a:cs typeface="Poppins"/>
              <a:sym typeface="Poppins"/>
            </a:endParaRPr>
          </a:p>
          <a:p>
            <a:pPr indent="-329400" lvl="0" marL="658800" marR="0" rtl="0" algn="l">
              <a:lnSpc>
                <a:spcPct val="120000"/>
              </a:lnSpc>
              <a:spcBef>
                <a:spcPts val="1200"/>
              </a:spcBef>
              <a:spcAft>
                <a:spcPts val="0"/>
              </a:spcAft>
              <a:buClr>
                <a:srgbClr val="000000"/>
              </a:buClr>
              <a:buSzPts val="1400"/>
              <a:buFont typeface="Arial"/>
              <a:buNone/>
            </a:pPr>
            <a:r>
              <a:t/>
            </a:r>
            <a:endParaRPr b="1" i="0" sz="1800" u="sng" cap="none" strike="noStrike">
              <a:solidFill>
                <a:srgbClr val="1F2020"/>
              </a:solidFill>
              <a:latin typeface="Poppins"/>
              <a:ea typeface="Poppins"/>
              <a:cs typeface="Poppins"/>
              <a:sym typeface="Poppins"/>
            </a:endParaRPr>
          </a:p>
        </p:txBody>
      </p:sp>
      <p:pic>
        <p:nvPicPr>
          <p:cNvPr id="123" name="Google Shape;123;p21"/>
          <p:cNvPicPr preferRelativeResize="0"/>
          <p:nvPr/>
        </p:nvPicPr>
        <p:blipFill rotWithShape="1">
          <a:blip r:embed="rId3">
            <a:alphaModFix/>
          </a:blip>
          <a:srcRect b="0" l="0" r="0" t="0"/>
          <a:stretch/>
        </p:blipFill>
        <p:spPr>
          <a:xfrm>
            <a:off x="5755200" y="2209725"/>
            <a:ext cx="3084000" cy="17534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p:nvPr/>
        </p:nvSpPr>
        <p:spPr>
          <a:xfrm>
            <a:off x="1990800" y="265325"/>
            <a:ext cx="5397000" cy="585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Summary of Base Paper II</a:t>
            </a:r>
            <a:endParaRPr b="0" i="0" sz="3200" u="none" cap="none" strike="noStrike">
              <a:solidFill>
                <a:srgbClr val="000000"/>
              </a:solidFill>
              <a:latin typeface="Arial"/>
              <a:ea typeface="Arial"/>
              <a:cs typeface="Arial"/>
              <a:sym typeface="Arial"/>
            </a:endParaRPr>
          </a:p>
        </p:txBody>
      </p:sp>
      <p:sp>
        <p:nvSpPr>
          <p:cNvPr id="129" name="Google Shape;129;p22"/>
          <p:cNvSpPr/>
          <p:nvPr/>
        </p:nvSpPr>
        <p:spPr>
          <a:xfrm>
            <a:off x="701640" y="856440"/>
            <a:ext cx="7740300" cy="750900"/>
          </a:xfrm>
          <a:prstGeom prst="rect">
            <a:avLst/>
          </a:prstGeom>
          <a:noFill/>
          <a:ln>
            <a:noFill/>
          </a:ln>
        </p:spPr>
        <p:txBody>
          <a:bodyPr anchorCtr="0" anchor="t" bIns="0" lIns="0" spcFirstLastPara="1" rIns="0" wrap="square" tIns="0">
            <a:noAutofit/>
          </a:bodyPr>
          <a:lstStyle/>
          <a:p>
            <a:pPr indent="0" lvl="0" marL="0" marR="0" rtl="0" algn="just">
              <a:lnSpc>
                <a:spcPct val="137000"/>
              </a:lnSpc>
              <a:spcBef>
                <a:spcPts val="0"/>
              </a:spcBef>
              <a:spcAft>
                <a:spcPts val="0"/>
              </a:spcAft>
              <a:buClr>
                <a:srgbClr val="000000"/>
              </a:buClr>
              <a:buSzPts val="1200"/>
              <a:buFont typeface="Arial"/>
              <a:buNone/>
            </a:pPr>
            <a:r>
              <a:rPr b="0" i="1" lang="en-US" sz="1200" u="none" cap="none" strike="noStrike">
                <a:solidFill>
                  <a:srgbClr val="1F2020"/>
                </a:solidFill>
                <a:latin typeface="Arial"/>
                <a:ea typeface="Arial"/>
                <a:cs typeface="Arial"/>
                <a:sym typeface="Arial"/>
              </a:rPr>
              <a:t>Agentic AI for Autonomous Defense in Software</a:t>
            </a:r>
            <a:endParaRPr b="0" i="1" sz="1200" u="none" cap="none" strike="noStrike">
              <a:solidFill>
                <a:srgbClr val="1F2020"/>
              </a:solidFill>
              <a:latin typeface="Arial"/>
              <a:ea typeface="Arial"/>
              <a:cs typeface="Arial"/>
              <a:sym typeface="Arial"/>
            </a:endParaRPr>
          </a:p>
          <a:p>
            <a:pPr indent="0" lvl="0" marL="0" marR="0" rtl="0" algn="just">
              <a:lnSpc>
                <a:spcPct val="137000"/>
              </a:lnSpc>
              <a:spcBef>
                <a:spcPts val="0"/>
              </a:spcBef>
              <a:spcAft>
                <a:spcPts val="0"/>
              </a:spcAft>
              <a:buClr>
                <a:srgbClr val="000000"/>
              </a:buClr>
              <a:buSzPts val="1200"/>
              <a:buFont typeface="Arial"/>
              <a:buNone/>
            </a:pPr>
            <a:r>
              <a:rPr b="0" i="1" lang="en-US" sz="1200" u="none" cap="none" strike="noStrike">
                <a:solidFill>
                  <a:srgbClr val="1F2020"/>
                </a:solidFill>
                <a:latin typeface="Arial"/>
                <a:ea typeface="Arial"/>
                <a:cs typeface="Arial"/>
                <a:sym typeface="Arial"/>
              </a:rPr>
              <a:t>Supply Chain Security: Beyond Provenance to</a:t>
            </a:r>
            <a:endParaRPr b="0" i="1" sz="1200" u="none" cap="none" strike="noStrike">
              <a:solidFill>
                <a:srgbClr val="1F2020"/>
              </a:solidFill>
              <a:latin typeface="Arial"/>
              <a:ea typeface="Arial"/>
              <a:cs typeface="Arial"/>
              <a:sym typeface="Arial"/>
            </a:endParaRPr>
          </a:p>
          <a:p>
            <a:pPr indent="0" lvl="0" marL="0" marR="0" rtl="0" algn="just">
              <a:lnSpc>
                <a:spcPct val="137000"/>
              </a:lnSpc>
              <a:spcBef>
                <a:spcPts val="0"/>
              </a:spcBef>
              <a:spcAft>
                <a:spcPts val="0"/>
              </a:spcAft>
              <a:buClr>
                <a:srgbClr val="000000"/>
              </a:buClr>
              <a:buSzPts val="1200"/>
              <a:buFont typeface="Arial"/>
              <a:buNone/>
            </a:pPr>
            <a:r>
              <a:rPr b="0" i="1" lang="en-US" sz="1200" u="none" cap="none" strike="noStrike">
                <a:solidFill>
                  <a:srgbClr val="1F2020"/>
                </a:solidFill>
                <a:latin typeface="Arial"/>
                <a:ea typeface="Arial"/>
                <a:cs typeface="Arial"/>
                <a:sym typeface="Arial"/>
              </a:rPr>
              <a:t>Vulnerability Mitigation</a:t>
            </a:r>
            <a:endParaRPr b="0" i="1" sz="1200" u="none" cap="none" strike="noStrike">
              <a:solidFill>
                <a:srgbClr val="1F2020"/>
              </a:solidFill>
              <a:latin typeface="Arial"/>
              <a:ea typeface="Arial"/>
              <a:cs typeface="Arial"/>
              <a:sym typeface="Arial"/>
            </a:endParaRPr>
          </a:p>
        </p:txBody>
      </p:sp>
      <p:sp>
        <p:nvSpPr>
          <p:cNvPr id="130" name="Google Shape;130;p22"/>
          <p:cNvSpPr/>
          <p:nvPr/>
        </p:nvSpPr>
        <p:spPr>
          <a:xfrm>
            <a:off x="358150" y="1811075"/>
            <a:ext cx="4830600" cy="2633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This research explores the use of </a:t>
            </a:r>
            <a:r>
              <a:rPr b="1" i="0" lang="en-US" sz="1100" u="none" cap="none" strike="noStrike">
                <a:solidFill>
                  <a:srgbClr val="000000"/>
                </a:solidFill>
                <a:latin typeface="Poppins"/>
                <a:ea typeface="Poppins"/>
                <a:cs typeface="Poppins"/>
                <a:sym typeface="Poppins"/>
              </a:rPr>
              <a:t>agentic AI systems</a:t>
            </a:r>
            <a:r>
              <a:rPr b="0" i="0" lang="en-US" sz="1100" u="none" cap="none" strike="noStrike">
                <a:solidFill>
                  <a:srgbClr val="000000"/>
                </a:solidFill>
                <a:latin typeface="Poppins"/>
                <a:ea typeface="Poppins"/>
                <a:cs typeface="Poppins"/>
                <a:sym typeface="Poppins"/>
              </a:rPr>
              <a:t> for automated cybersecurity defense.</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Agentic systems consist of intelligent agents capable of:</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monitoring software systems</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detecting vulnerabilities</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initiating mitigation actions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These systems aim to move beyond traditional static security tools toward </a:t>
            </a:r>
            <a:r>
              <a:rPr b="1" i="0" lang="en-US" sz="1100" u="none" cap="none" strike="noStrike">
                <a:solidFill>
                  <a:srgbClr val="000000"/>
                </a:solidFill>
                <a:latin typeface="Poppins"/>
                <a:ea typeface="Poppins"/>
                <a:cs typeface="Poppins"/>
                <a:sym typeface="Poppins"/>
              </a:rPr>
              <a:t>autonomous security pipelines</a:t>
            </a:r>
            <a:r>
              <a:rPr b="0" i="0" lang="en-US" sz="1100" u="none" cap="none" strike="noStrike">
                <a:solidFill>
                  <a:srgbClr val="000000"/>
                </a:solidFill>
                <a:latin typeface="Poppins"/>
                <a:ea typeface="Poppins"/>
                <a:cs typeface="Poppins"/>
                <a:sym typeface="Poppins"/>
              </a:rPr>
              <a:t>.</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 proposed framework integrates multiple components including:</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vulnerability detection</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automated decision making</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remediation actions within CI/CD environments.</a:t>
            </a:r>
            <a:endParaRPr b="0" i="0" sz="1100" u="none" cap="none" strike="noStrike">
              <a:solidFill>
                <a:srgbClr val="000000"/>
              </a:solidFill>
              <a:latin typeface="Poppins"/>
              <a:ea typeface="Poppins"/>
              <a:cs typeface="Poppins"/>
              <a:sym typeface="Poppins"/>
            </a:endParaRPr>
          </a:p>
          <a:p>
            <a:pPr indent="-329400" lvl="0" marL="658800" marR="0" rtl="0" algn="l">
              <a:lnSpc>
                <a:spcPct val="120000"/>
              </a:lnSpc>
              <a:spcBef>
                <a:spcPts val="1200"/>
              </a:spcBef>
              <a:spcAft>
                <a:spcPts val="0"/>
              </a:spcAft>
              <a:buClr>
                <a:srgbClr val="000000"/>
              </a:buClr>
              <a:buSzPts val="1400"/>
              <a:buFont typeface="Arial"/>
              <a:buNone/>
            </a:pPr>
            <a:r>
              <a:t/>
            </a:r>
            <a:endParaRPr b="1" i="0" sz="1800" u="sng" cap="none" strike="noStrike">
              <a:solidFill>
                <a:srgbClr val="1F2020"/>
              </a:solidFill>
              <a:latin typeface="Poppins"/>
              <a:ea typeface="Poppins"/>
              <a:cs typeface="Poppins"/>
              <a:sym typeface="Poppins"/>
            </a:endParaRPr>
          </a:p>
        </p:txBody>
      </p:sp>
      <p:pic>
        <p:nvPicPr>
          <p:cNvPr id="131" name="Google Shape;131;p22"/>
          <p:cNvPicPr preferRelativeResize="0"/>
          <p:nvPr/>
        </p:nvPicPr>
        <p:blipFill rotWithShape="1">
          <a:blip r:embed="rId3">
            <a:alphaModFix/>
          </a:blip>
          <a:srcRect b="0" l="0" r="0" t="0"/>
          <a:stretch/>
        </p:blipFill>
        <p:spPr>
          <a:xfrm>
            <a:off x="5188750" y="1929053"/>
            <a:ext cx="3581400" cy="2600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idx="4294967295" type="title"/>
          </p:nvPr>
        </p:nvSpPr>
        <p:spPr>
          <a:xfrm>
            <a:off x="2246040" y="1856160"/>
            <a:ext cx="6184500" cy="1024200"/>
          </a:xfrm>
          <a:prstGeom prst="rect">
            <a:avLst/>
          </a:prstGeom>
          <a:solidFill>
            <a:schemeClr val="dk1"/>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Clr>
                <a:schemeClr val="lt1"/>
              </a:buClr>
              <a:buSzPts val="3600"/>
              <a:buFont typeface="Figtree Black"/>
              <a:buNone/>
            </a:pPr>
            <a:r>
              <a:rPr b="0" i="0" lang="en-US" sz="3800" u="none" cap="none" strike="noStrike">
                <a:solidFill>
                  <a:schemeClr val="lt1"/>
                </a:solidFill>
                <a:latin typeface="Figtree Black"/>
                <a:ea typeface="Figtree Black"/>
                <a:cs typeface="Figtree Black"/>
                <a:sym typeface="Figtree Black"/>
              </a:rPr>
              <a:t>Part </a:t>
            </a:r>
            <a:r>
              <a:rPr lang="en-US" sz="3800">
                <a:solidFill>
                  <a:schemeClr val="lt1"/>
                </a:solidFill>
                <a:latin typeface="Figtree Black"/>
                <a:ea typeface="Figtree Black"/>
                <a:cs typeface="Figtree Black"/>
                <a:sym typeface="Figtree Black"/>
              </a:rPr>
              <a:t>5</a:t>
            </a:r>
            <a:r>
              <a:rPr b="0" i="0" lang="en-US" sz="3800" u="none" cap="none" strike="noStrike">
                <a:solidFill>
                  <a:schemeClr val="lt1"/>
                </a:solidFill>
                <a:latin typeface="Figtree Black"/>
                <a:ea typeface="Figtree Black"/>
                <a:cs typeface="Figtree Black"/>
                <a:sym typeface="Figtree Black"/>
              </a:rPr>
              <a:t>: </a:t>
            </a:r>
            <a:r>
              <a:rPr b="1" i="0" lang="en-US" sz="3800" u="none" cap="none" strike="noStrike">
                <a:solidFill>
                  <a:schemeClr val="lt1"/>
                </a:solidFill>
                <a:latin typeface="Poppins"/>
                <a:ea typeface="Poppins"/>
                <a:cs typeface="Poppins"/>
                <a:sym typeface="Poppins"/>
              </a:rPr>
              <a:t>Methodology</a:t>
            </a:r>
            <a:endParaRPr b="0" i="0" sz="38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1662838" y="228600"/>
            <a:ext cx="58182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2800"/>
              <a:buFont typeface="Figtree Black"/>
              <a:buNone/>
            </a:pPr>
            <a:r>
              <a:rPr b="1" lang="en-US" sz="3000" strike="noStrike">
                <a:solidFill>
                  <a:srgbClr val="1F2020"/>
                </a:solidFill>
                <a:latin typeface="Figtree Black"/>
                <a:ea typeface="Figtree Black"/>
                <a:cs typeface="Figtree Black"/>
                <a:sym typeface="Figtree Black"/>
              </a:rPr>
              <a:t>Dataset Used</a:t>
            </a:r>
            <a:br>
              <a:rPr lang="en-US" sz="3000"/>
            </a:br>
            <a:endParaRPr b="0" sz="3000" strike="noStrike">
              <a:solidFill>
                <a:srgbClr val="000000"/>
              </a:solidFill>
              <a:latin typeface="Arial"/>
              <a:ea typeface="Arial"/>
              <a:cs typeface="Arial"/>
              <a:sym typeface="Arial"/>
            </a:endParaRPr>
          </a:p>
        </p:txBody>
      </p:sp>
      <p:sp>
        <p:nvSpPr>
          <p:cNvPr id="142" name="Google Shape;142;p24"/>
          <p:cNvSpPr/>
          <p:nvPr/>
        </p:nvSpPr>
        <p:spPr>
          <a:xfrm>
            <a:off x="418450" y="801000"/>
            <a:ext cx="5281200" cy="43398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To train and evaluate the vulnerability triage system, we used the </a:t>
            </a:r>
            <a:r>
              <a:rPr b="1" i="0" lang="en-US" sz="1100" u="none" cap="none" strike="noStrike">
                <a:solidFill>
                  <a:srgbClr val="000000"/>
                </a:solidFill>
                <a:latin typeface="Poppins"/>
                <a:ea typeface="Poppins"/>
                <a:cs typeface="Poppins"/>
                <a:sym typeface="Poppins"/>
              </a:rPr>
              <a:t>OWASP Benchmark Dataset</a:t>
            </a:r>
            <a:r>
              <a:rPr b="0" i="0" lang="en-US" sz="1100" u="none" cap="none" strike="noStrike">
                <a:solidFill>
                  <a:srgbClr val="000000"/>
                </a:solidFill>
                <a:latin typeface="Poppins"/>
                <a:ea typeface="Poppins"/>
                <a:cs typeface="Poppins"/>
                <a:sym typeface="Poppins"/>
              </a:rPr>
              <a:t>.</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 OWASP Benchmark is a widely used dataset designed for evaluating static application security testing tools.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Key characteristics</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Contains </a:t>
            </a:r>
            <a:r>
              <a:rPr b="1" i="0" lang="en-US" sz="1100" u="none" cap="none" strike="noStrike">
                <a:solidFill>
                  <a:srgbClr val="000000"/>
                </a:solidFill>
                <a:latin typeface="Poppins"/>
                <a:ea typeface="Poppins"/>
                <a:cs typeface="Poppins"/>
                <a:sym typeface="Poppins"/>
              </a:rPr>
              <a:t>2766 Java test cases</a:t>
            </a:r>
            <a:endParaRPr b="1"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Each test case represents a potential vulnerability scenario</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Poppins"/>
                <a:ea typeface="Poppins"/>
                <a:cs typeface="Poppins"/>
                <a:sym typeface="Poppins"/>
              </a:rPr>
              <a:t>Includes both </a:t>
            </a:r>
            <a:r>
              <a:rPr b="1" i="0" lang="en-US" sz="1100" u="none" cap="none" strike="noStrike">
                <a:solidFill>
                  <a:srgbClr val="000000"/>
                </a:solidFill>
                <a:latin typeface="Poppins"/>
                <a:ea typeface="Poppins"/>
                <a:cs typeface="Poppins"/>
                <a:sym typeface="Poppins"/>
              </a:rPr>
              <a:t>vulnerable and non-vulnerable code examples</a:t>
            </a:r>
            <a:endParaRPr b="1"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Covers multiple vulnerability categories such as:</a:t>
            </a:r>
            <a:endParaRPr b="0" i="0" sz="1100" u="none" cap="none" strike="noStrike">
              <a:solidFill>
                <a:srgbClr val="000000"/>
              </a:solidFill>
              <a:latin typeface="Poppins"/>
              <a:ea typeface="Poppins"/>
              <a:cs typeface="Poppins"/>
              <a:sym typeface="Poppins"/>
            </a:endParaRPr>
          </a:p>
          <a:p>
            <a:pPr indent="-298450" lvl="1" marL="9144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SQL Injection</a:t>
            </a:r>
            <a:endParaRPr b="0" i="0" sz="1100" u="none" cap="none" strike="noStrike">
              <a:solidFill>
                <a:srgbClr val="000000"/>
              </a:solidFill>
              <a:latin typeface="Poppins"/>
              <a:ea typeface="Poppins"/>
              <a:cs typeface="Poppins"/>
              <a:sym typeface="Poppins"/>
            </a:endParaRPr>
          </a:p>
          <a:p>
            <a:pPr indent="-298450" lvl="1" marL="9144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Command Injection</a:t>
            </a:r>
            <a:endParaRPr b="0" i="0" sz="1100" u="none" cap="none" strike="noStrike">
              <a:solidFill>
                <a:srgbClr val="000000"/>
              </a:solidFill>
              <a:latin typeface="Poppins"/>
              <a:ea typeface="Poppins"/>
              <a:cs typeface="Poppins"/>
              <a:sym typeface="Poppins"/>
            </a:endParaRPr>
          </a:p>
          <a:p>
            <a:pPr indent="-298450" lvl="1" marL="9144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Cross-Site Scripting (XSS)</a:t>
            </a:r>
            <a:endParaRPr b="0" i="0" sz="1100" u="none" cap="none" strike="noStrike">
              <a:solidFill>
                <a:srgbClr val="000000"/>
              </a:solidFill>
              <a:latin typeface="Poppins"/>
              <a:ea typeface="Poppins"/>
              <a:cs typeface="Poppins"/>
              <a:sym typeface="Poppins"/>
            </a:endParaRPr>
          </a:p>
          <a:p>
            <a:pPr indent="-298450" lvl="1" marL="9144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Path Traversal</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Each test case includes </a:t>
            </a:r>
            <a:r>
              <a:rPr b="1" i="0" lang="en-US" sz="1100" u="none" cap="none" strike="noStrike">
                <a:solidFill>
                  <a:srgbClr val="000000"/>
                </a:solidFill>
                <a:latin typeface="Poppins"/>
                <a:ea typeface="Poppins"/>
                <a:cs typeface="Poppins"/>
                <a:sym typeface="Poppins"/>
              </a:rPr>
              <a:t>ground truth labels</a:t>
            </a:r>
            <a:r>
              <a:rPr b="0" i="0" lang="en-US" sz="1100" u="none" cap="none" strike="noStrike">
                <a:solidFill>
                  <a:srgbClr val="000000"/>
                </a:solidFill>
                <a:latin typeface="Poppins"/>
                <a:ea typeface="Poppins"/>
                <a:cs typeface="Poppins"/>
                <a:sym typeface="Poppins"/>
              </a:rPr>
              <a:t>, enabling supervised machine learning experiments.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This dataset is commonly used for evaluating the effectiveness of vulnerability detection tools.</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1" i="0" sz="1300" u="none" cap="none" strike="noStrike">
              <a:solidFill>
                <a:srgbClr val="000000"/>
              </a:solidFill>
              <a:latin typeface="Poppins"/>
              <a:ea typeface="Poppins"/>
              <a:cs typeface="Poppins"/>
              <a:sym typeface="Poppins"/>
            </a:endParaRPr>
          </a:p>
        </p:txBody>
      </p:sp>
      <p:pic>
        <p:nvPicPr>
          <p:cNvPr id="143" name="Google Shape;143;p24"/>
          <p:cNvPicPr preferRelativeResize="0"/>
          <p:nvPr/>
        </p:nvPicPr>
        <p:blipFill rotWithShape="1">
          <a:blip r:embed="rId3">
            <a:alphaModFix/>
          </a:blip>
          <a:srcRect b="0" l="0" r="0" t="0"/>
          <a:stretch/>
        </p:blipFill>
        <p:spPr>
          <a:xfrm>
            <a:off x="5699650" y="1117575"/>
            <a:ext cx="3128200" cy="33516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p:nvPr/>
        </p:nvSpPr>
        <p:spPr>
          <a:xfrm>
            <a:off x="1474377" y="198295"/>
            <a:ext cx="61953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System Workflow</a:t>
            </a:r>
            <a:endParaRPr b="0" i="0" sz="3200" u="none" cap="none" strike="noStrike">
              <a:solidFill>
                <a:srgbClr val="000000"/>
              </a:solidFill>
              <a:latin typeface="Arial"/>
              <a:ea typeface="Arial"/>
              <a:cs typeface="Arial"/>
              <a:sym typeface="Arial"/>
            </a:endParaRPr>
          </a:p>
        </p:txBody>
      </p:sp>
      <p:sp>
        <p:nvSpPr>
          <p:cNvPr id="149" name="Google Shape;149;p25"/>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150" name="Google Shape;150;p25"/>
          <p:cNvSpPr/>
          <p:nvPr/>
        </p:nvSpPr>
        <p:spPr>
          <a:xfrm>
            <a:off x="404700" y="1135200"/>
            <a:ext cx="5829600" cy="33399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Phase 1: Model Training &amp; Initialization</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Batch Static Analysis:</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CodeQL is executed on the </a:t>
            </a:r>
            <a:r>
              <a:rPr b="1" i="0" lang="en-US" sz="1100" u="none" cap="none" strike="noStrike">
                <a:solidFill>
                  <a:srgbClr val="000000"/>
                </a:solidFill>
                <a:latin typeface="Arial"/>
                <a:ea typeface="Arial"/>
                <a:cs typeface="Arial"/>
                <a:sym typeface="Arial"/>
              </a:rPr>
              <a:t>OWASP Benchmark dataset</a:t>
            </a:r>
            <a:r>
              <a:rPr b="0" i="0" lang="en-US" sz="1100" u="none" cap="none" strike="noStrike">
                <a:solidFill>
                  <a:srgbClr val="000000"/>
                </a:solidFill>
                <a:latin typeface="Arial"/>
                <a:ea typeface="Arial"/>
                <a:cs typeface="Arial"/>
                <a:sym typeface="Arial"/>
              </a:rPr>
              <a:t> to establish a baseline.</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Data Parsing:</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SARIF outputs are processed using custom Python scripts to extract:</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File locations</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Rule IDs</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Vulnerability descriptions</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Feature Extraction:</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Data is transformed into </a:t>
            </a:r>
            <a:r>
              <a:rPr b="1" i="0" lang="en-US" sz="1100" u="none" cap="none" strike="noStrike">
                <a:solidFill>
                  <a:srgbClr val="000000"/>
                </a:solidFill>
                <a:latin typeface="Arial"/>
                <a:ea typeface="Arial"/>
                <a:cs typeface="Arial"/>
                <a:sym typeface="Arial"/>
              </a:rPr>
              <a:t>13-dimensional vulnerability vectors</a:t>
            </a:r>
            <a:r>
              <a:rPr b="0" i="0" lang="en-US" sz="1100" u="none" cap="none" strike="noStrike">
                <a:solidFill>
                  <a:srgbClr val="000000"/>
                </a:solidFill>
                <a:latin typeface="Arial"/>
                <a:ea typeface="Arial"/>
                <a:cs typeface="Arial"/>
                <a:sym typeface="Arial"/>
              </a:rPr>
              <a:t> with weighted contextual features.</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Model Training:</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A </a:t>
            </a:r>
            <a:r>
              <a:rPr b="1" i="0" lang="en-US" sz="1100" u="none" cap="none" strike="noStrike">
                <a:solidFill>
                  <a:srgbClr val="000000"/>
                </a:solidFill>
                <a:latin typeface="Arial"/>
                <a:ea typeface="Arial"/>
                <a:cs typeface="Arial"/>
                <a:sym typeface="Arial"/>
              </a:rPr>
              <a:t>Gradient Boosting Machine (GBM)</a:t>
            </a:r>
            <a:r>
              <a:rPr b="0" i="0" lang="en-US" sz="1100" u="none" cap="none" strike="noStrike">
                <a:solidFill>
                  <a:srgbClr val="000000"/>
                </a:solidFill>
                <a:latin typeface="Arial"/>
                <a:ea typeface="Arial"/>
                <a:cs typeface="Arial"/>
                <a:sym typeface="Arial"/>
              </a:rPr>
              <a:t> is trained and optimized to classify:</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True vulnerabilities</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False positives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p:txBody>
      </p:sp>
      <p:pic>
        <p:nvPicPr>
          <p:cNvPr id="151" name="Google Shape;151;p25"/>
          <p:cNvPicPr preferRelativeResize="0"/>
          <p:nvPr/>
        </p:nvPicPr>
        <p:blipFill rotWithShape="1">
          <a:blip r:embed="rId3">
            <a:alphaModFix/>
          </a:blip>
          <a:srcRect b="0" l="0" r="0" t="0"/>
          <a:stretch/>
        </p:blipFill>
        <p:spPr>
          <a:xfrm>
            <a:off x="6575600" y="659445"/>
            <a:ext cx="1926139" cy="40596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p:nvPr/>
        </p:nvSpPr>
        <p:spPr>
          <a:xfrm>
            <a:off x="1474377" y="198295"/>
            <a:ext cx="61953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System Workflow</a:t>
            </a:r>
            <a:endParaRPr b="0" i="0" sz="3200" u="none" cap="none" strike="noStrike">
              <a:solidFill>
                <a:srgbClr val="000000"/>
              </a:solidFill>
              <a:latin typeface="Arial"/>
              <a:ea typeface="Arial"/>
              <a:cs typeface="Arial"/>
              <a:sym typeface="Arial"/>
            </a:endParaRPr>
          </a:p>
        </p:txBody>
      </p:sp>
      <p:sp>
        <p:nvSpPr>
          <p:cNvPr id="157" name="Google Shape;157;p26"/>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158" name="Google Shape;158;p26"/>
          <p:cNvSpPr/>
          <p:nvPr/>
        </p:nvSpPr>
        <p:spPr>
          <a:xfrm>
            <a:off x="404700" y="1135200"/>
            <a:ext cx="5829600" cy="33399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Phase 2: Autonomous DevSecOps Pipeline (Real-Time)</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Pipeline Trigger:</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Code commit triggers CI/CD via </a:t>
            </a:r>
            <a:r>
              <a:rPr b="1" i="0" lang="en-US" sz="1100" u="none" cap="none" strike="noStrike">
                <a:solidFill>
                  <a:srgbClr val="000000"/>
                </a:solidFill>
                <a:latin typeface="Arial"/>
                <a:ea typeface="Arial"/>
                <a:cs typeface="Arial"/>
                <a:sym typeface="Arial"/>
              </a:rPr>
              <a:t>GitHub Webhooks → Jenkins Pipeline</a:t>
            </a:r>
            <a:endParaRPr b="1"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Targeted Scanning:</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CodeQL runs selectively on modified code.</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ML-Based Triage:</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Pre-trained model evaluates alerts in real-time and filters out false positives.</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LLM-Driven Remediation:</a:t>
            </a:r>
            <a:br>
              <a:rPr b="1"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 Autonomous agent:</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Generates patch</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Validates fix</a:t>
            </a:r>
            <a:endParaRPr b="0" i="0" sz="1100" u="none" cap="none" strike="noStrike">
              <a:solidFill>
                <a:srgbClr val="000000"/>
              </a:solidFill>
              <a:latin typeface="Arial"/>
              <a:ea typeface="Arial"/>
              <a:cs typeface="Arial"/>
              <a:sym typeface="Arial"/>
            </a:endParaRPr>
          </a:p>
          <a:p>
            <a:pPr indent="-298450" lvl="1" marL="9144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Auto-commits changes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p:txBody>
      </p:sp>
      <p:pic>
        <p:nvPicPr>
          <p:cNvPr id="159" name="Google Shape;159;p26"/>
          <p:cNvPicPr preferRelativeResize="0"/>
          <p:nvPr/>
        </p:nvPicPr>
        <p:blipFill rotWithShape="1">
          <a:blip r:embed="rId3">
            <a:alphaModFix/>
          </a:blip>
          <a:srcRect b="0" l="0" r="0" t="0"/>
          <a:stretch/>
        </p:blipFill>
        <p:spPr>
          <a:xfrm>
            <a:off x="6620975" y="697245"/>
            <a:ext cx="1926139" cy="40596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p:nvPr/>
        </p:nvSpPr>
        <p:spPr>
          <a:xfrm>
            <a:off x="1474350" y="239225"/>
            <a:ext cx="6195300" cy="5475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Feature Extraction</a:t>
            </a:r>
            <a:endParaRPr b="0" i="0" sz="3200" u="none" cap="none" strike="noStrike">
              <a:solidFill>
                <a:srgbClr val="000000"/>
              </a:solidFill>
              <a:latin typeface="Arial"/>
              <a:ea typeface="Arial"/>
              <a:cs typeface="Arial"/>
              <a:sym typeface="Arial"/>
            </a:endParaRPr>
          </a:p>
        </p:txBody>
      </p:sp>
      <p:sp>
        <p:nvSpPr>
          <p:cNvPr id="165" name="Google Shape;165;p27"/>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166" name="Google Shape;166;p27"/>
          <p:cNvSpPr/>
          <p:nvPr/>
        </p:nvSpPr>
        <p:spPr>
          <a:xfrm>
            <a:off x="366525" y="786725"/>
            <a:ext cx="5760900" cy="38787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To train the machine learning model, we constructed a labeled dataset from the outputs of static analysis.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 vulnerability detection tool </a:t>
            </a:r>
            <a:r>
              <a:rPr b="1" i="0" lang="en-US" sz="1100" u="none" cap="none" strike="noStrike">
                <a:solidFill>
                  <a:srgbClr val="000000"/>
                </a:solidFill>
                <a:latin typeface="Poppins"/>
                <a:ea typeface="Poppins"/>
                <a:cs typeface="Poppins"/>
                <a:sym typeface="Poppins"/>
              </a:rPr>
              <a:t>CodeQL</a:t>
            </a:r>
            <a:r>
              <a:rPr b="0" i="0" lang="en-US" sz="1100" u="none" cap="none" strike="noStrike">
                <a:solidFill>
                  <a:srgbClr val="000000"/>
                </a:solidFill>
                <a:latin typeface="Poppins"/>
                <a:ea typeface="Poppins"/>
                <a:cs typeface="Poppins"/>
                <a:sym typeface="Poppins"/>
              </a:rPr>
              <a:t> produces results in </a:t>
            </a:r>
            <a:r>
              <a:rPr b="1" i="0" lang="en-US" sz="1100" u="none" cap="none" strike="noStrike">
                <a:solidFill>
                  <a:srgbClr val="000000"/>
                </a:solidFill>
                <a:latin typeface="Poppins"/>
                <a:ea typeface="Poppins"/>
                <a:cs typeface="Poppins"/>
                <a:sym typeface="Poppins"/>
              </a:rPr>
              <a:t>SARIF (Static Analysis Results Interchange Format)</a:t>
            </a:r>
            <a:r>
              <a:rPr b="0" i="0" lang="en-US" sz="1100" u="none" cap="none" strike="noStrike">
                <a:solidFill>
                  <a:srgbClr val="000000"/>
                </a:solidFill>
                <a:latin typeface="Poppins"/>
                <a:ea typeface="Poppins"/>
                <a:cs typeface="Poppins"/>
                <a:sym typeface="Poppins"/>
              </a:rPr>
              <a:t>.</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These SARIF results contain detailed information about each detected alert, including:</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file location</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line number</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rule identifier</a:t>
            </a:r>
            <a:endParaRPr b="0" i="0" sz="1100" u="none" cap="none" strike="noStrike">
              <a:solidFill>
                <a:srgbClr val="000000"/>
              </a:solidFill>
              <a:latin typeface="Poppins"/>
              <a:ea typeface="Poppins"/>
              <a:cs typeface="Poppins"/>
              <a:sym typeface="Poppins"/>
            </a:endParaRPr>
          </a:p>
          <a:p>
            <a:pPr indent="-298450" lvl="0" marL="457200" marR="0" rtl="0" algn="l">
              <a:lnSpc>
                <a:spcPct val="115000"/>
              </a:lnSpc>
              <a:spcBef>
                <a:spcPts val="0"/>
              </a:spcBef>
              <a:spcAft>
                <a:spcPts val="0"/>
              </a:spcAft>
              <a:buClr>
                <a:srgbClr val="000000"/>
              </a:buClr>
              <a:buSzPts val="1100"/>
              <a:buFont typeface="Poppins"/>
              <a:buChar char="●"/>
            </a:pPr>
            <a:r>
              <a:rPr b="0" i="0" lang="en-US" sz="1100" u="none" cap="none" strike="noStrike">
                <a:solidFill>
                  <a:srgbClr val="000000"/>
                </a:solidFill>
                <a:latin typeface="Poppins"/>
                <a:ea typeface="Poppins"/>
                <a:cs typeface="Poppins"/>
                <a:sym typeface="Poppins"/>
              </a:rPr>
              <a:t>vulnerability description</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The SARIF alerts were parsed using a custom data processing script.</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120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Each alert was then matched with the </a:t>
            </a:r>
            <a:r>
              <a:rPr b="1" i="0" lang="en-US" sz="1100" u="none" cap="none" strike="noStrike">
                <a:solidFill>
                  <a:srgbClr val="000000"/>
                </a:solidFill>
                <a:latin typeface="Poppins"/>
                <a:ea typeface="Poppins"/>
                <a:cs typeface="Poppins"/>
                <a:sym typeface="Poppins"/>
              </a:rPr>
              <a:t>ground truth labels provided by the OWASP Benchmark dataset</a:t>
            </a:r>
            <a:r>
              <a:rPr b="0" i="0" lang="en-US" sz="1100" u="none" cap="none" strike="noStrike">
                <a:solidFill>
                  <a:srgbClr val="000000"/>
                </a:solidFill>
                <a:latin typeface="Poppins"/>
                <a:ea typeface="Poppins"/>
                <a:cs typeface="Poppins"/>
                <a:sym typeface="Poppins"/>
              </a:rPr>
              <a:t>, which specifies whether the test case contains a real vulnerability.</a:t>
            </a:r>
            <a:endParaRPr b="0" i="0" sz="1100" u="none" cap="none" strike="noStrike">
              <a:solidFill>
                <a:srgbClr val="000000"/>
              </a:solidFill>
              <a:latin typeface="Poppins"/>
              <a:ea typeface="Poppins"/>
              <a:cs typeface="Poppins"/>
              <a:sym typeface="Poppins"/>
            </a:endParaRPr>
          </a:p>
        </p:txBody>
      </p:sp>
      <p:pic>
        <p:nvPicPr>
          <p:cNvPr id="167" name="Google Shape;167;p27"/>
          <p:cNvPicPr preferRelativeResize="0"/>
          <p:nvPr/>
        </p:nvPicPr>
        <p:blipFill rotWithShape="1">
          <a:blip r:embed="rId3">
            <a:alphaModFix/>
          </a:blip>
          <a:srcRect b="0" l="0" r="0" t="0"/>
          <a:stretch/>
        </p:blipFill>
        <p:spPr>
          <a:xfrm>
            <a:off x="6292025" y="700083"/>
            <a:ext cx="2263411" cy="405198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p:nvPr/>
        </p:nvSpPr>
        <p:spPr>
          <a:xfrm>
            <a:off x="1474340" y="259370"/>
            <a:ext cx="61953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Feature Extraction</a:t>
            </a:r>
            <a:endParaRPr b="0" i="0" sz="3200" u="none" cap="none" strike="noStrike">
              <a:solidFill>
                <a:srgbClr val="000000"/>
              </a:solidFill>
              <a:latin typeface="Arial"/>
              <a:ea typeface="Arial"/>
              <a:cs typeface="Arial"/>
              <a:sym typeface="Arial"/>
            </a:endParaRPr>
          </a:p>
        </p:txBody>
      </p:sp>
      <p:sp>
        <p:nvSpPr>
          <p:cNvPr id="173" name="Google Shape;173;p28"/>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174" name="Google Shape;174;p28"/>
          <p:cNvSpPr/>
          <p:nvPr/>
        </p:nvSpPr>
        <p:spPr>
          <a:xfrm>
            <a:off x="505275" y="840175"/>
            <a:ext cx="3779700" cy="9693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This cross-referencing process allowed us to generate a labeled dataset containing:</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static analysis alerts</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corresponding ground truth labels</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contextual information extracted from the source code.</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pic>
        <p:nvPicPr>
          <p:cNvPr id="175" name="Google Shape;175;p28"/>
          <p:cNvPicPr preferRelativeResize="0"/>
          <p:nvPr/>
        </p:nvPicPr>
        <p:blipFill rotWithShape="1">
          <a:blip r:embed="rId3">
            <a:alphaModFix/>
          </a:blip>
          <a:srcRect b="0" l="0" r="0" t="0"/>
          <a:stretch/>
        </p:blipFill>
        <p:spPr>
          <a:xfrm>
            <a:off x="4405752" y="699825"/>
            <a:ext cx="4504826" cy="2486525"/>
          </a:xfrm>
          <a:prstGeom prst="rect">
            <a:avLst/>
          </a:prstGeom>
          <a:noFill/>
          <a:ln>
            <a:noFill/>
          </a:ln>
        </p:spPr>
      </p:pic>
      <p:pic>
        <p:nvPicPr>
          <p:cNvPr id="176" name="Google Shape;176;p28"/>
          <p:cNvPicPr preferRelativeResize="0"/>
          <p:nvPr/>
        </p:nvPicPr>
        <p:blipFill>
          <a:blip r:embed="rId4">
            <a:alphaModFix/>
          </a:blip>
          <a:stretch>
            <a:fillRect/>
          </a:stretch>
        </p:blipFill>
        <p:spPr>
          <a:xfrm>
            <a:off x="1125950" y="3158675"/>
            <a:ext cx="5894203" cy="1652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p:nvPr/>
        </p:nvSpPr>
        <p:spPr>
          <a:xfrm>
            <a:off x="181200" y="205925"/>
            <a:ext cx="87606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2900" u="none" cap="none" strike="noStrike">
                <a:solidFill>
                  <a:srgbClr val="1F2020"/>
                </a:solidFill>
                <a:latin typeface="Poppins"/>
                <a:ea typeface="Poppins"/>
                <a:cs typeface="Poppins"/>
                <a:sym typeface="Poppins"/>
              </a:rPr>
              <a:t>    Optimizing the Classification Thresholds</a:t>
            </a:r>
            <a:endParaRPr b="0" i="0" sz="2900" u="none" cap="none" strike="noStrike">
              <a:solidFill>
                <a:srgbClr val="000000"/>
              </a:solidFill>
              <a:latin typeface="Arial"/>
              <a:ea typeface="Arial"/>
              <a:cs typeface="Arial"/>
              <a:sym typeface="Arial"/>
            </a:endParaRPr>
          </a:p>
        </p:txBody>
      </p:sp>
      <p:sp>
        <p:nvSpPr>
          <p:cNvPr id="182" name="Google Shape;182;p29"/>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183" name="Google Shape;183;p29"/>
          <p:cNvSpPr/>
          <p:nvPr/>
        </p:nvSpPr>
        <p:spPr>
          <a:xfrm>
            <a:off x="389425" y="728450"/>
            <a:ext cx="4646700" cy="4339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120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By default, machine learning classifiers use a standard 0.50 (50%) confidence threshold. However, to ensure our security pipeline operates at maximum reliability, we mapped model performance metrics across all possible threshold values to find the exact mathematical peak for accuracy.</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100" u="sng" cap="none" strike="noStrike">
                <a:solidFill>
                  <a:srgbClr val="000000"/>
                </a:solidFill>
                <a:latin typeface="Poppins"/>
                <a:ea typeface="Poppins"/>
                <a:cs typeface="Poppins"/>
                <a:sym typeface="Poppins"/>
              </a:rPr>
              <a:t>Empirical Optimization (Accuracy Graph Analysis):</a:t>
            </a:r>
            <a:endParaRPr b="1" i="0" sz="1100" u="sng"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Random Forest Peak: 0.414</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Gradient Boosting Peak: 0.364</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p:txBody>
      </p:sp>
      <p:pic>
        <p:nvPicPr>
          <p:cNvPr id="184" name="Google Shape;184;p29"/>
          <p:cNvPicPr preferRelativeResize="0"/>
          <p:nvPr/>
        </p:nvPicPr>
        <p:blipFill rotWithShape="1">
          <a:blip r:embed="rId3">
            <a:alphaModFix/>
          </a:blip>
          <a:srcRect b="2270" l="70435" r="-1455" t="8012"/>
          <a:stretch/>
        </p:blipFill>
        <p:spPr>
          <a:xfrm>
            <a:off x="5219324" y="939950"/>
            <a:ext cx="3532401" cy="38362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p:nvPr/>
        </p:nvSpPr>
        <p:spPr>
          <a:xfrm>
            <a:off x="1474340" y="289845"/>
            <a:ext cx="61953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Random Forest Classifier</a:t>
            </a:r>
            <a:endParaRPr b="0" i="0" sz="3200" u="none" cap="none" strike="noStrike">
              <a:solidFill>
                <a:srgbClr val="000000"/>
              </a:solidFill>
              <a:latin typeface="Arial"/>
              <a:ea typeface="Arial"/>
              <a:cs typeface="Arial"/>
              <a:sym typeface="Arial"/>
            </a:endParaRPr>
          </a:p>
        </p:txBody>
      </p:sp>
      <p:sp>
        <p:nvSpPr>
          <p:cNvPr id="190" name="Google Shape;190;p30"/>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191" name="Google Shape;191;p30"/>
          <p:cNvSpPr/>
          <p:nvPr/>
        </p:nvSpPr>
        <p:spPr>
          <a:xfrm>
            <a:off x="374175" y="1126838"/>
            <a:ext cx="4272900" cy="3543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Random Forest reduces static analysis false positives by building multiple parallel decision trees (bagging) for robust, generalized predictions over a 13-dimensional vulnerability vector, capturing non-linear patterns.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400"/>
              <a:buFont typeface="Arial"/>
              <a:buNone/>
            </a:pPr>
            <a:r>
              <a:rPr b="1" i="0" lang="en-US" sz="1100" u="sng" cap="none" strike="noStrike">
                <a:solidFill>
                  <a:srgbClr val="000000"/>
                </a:solidFill>
                <a:latin typeface="Poppins"/>
                <a:ea typeface="Poppins"/>
                <a:cs typeface="Poppins"/>
                <a:sym typeface="Poppins"/>
              </a:rPr>
              <a:t>Model Configuration:</a:t>
            </a:r>
            <a:endParaRPr b="1" i="0" sz="1100" u="sng"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Estimators: 200 Trees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Class Weighting: Balanced</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Threshold: Optimized at 0.414</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US" sz="1100" u="sng" cap="none" strike="noStrike">
                <a:solidFill>
                  <a:srgbClr val="000000"/>
                </a:solidFill>
                <a:latin typeface="Poppins"/>
                <a:ea typeface="Poppins"/>
                <a:cs typeface="Poppins"/>
                <a:sym typeface="Poppins"/>
              </a:rPr>
              <a:t>Performance Metrics:</a:t>
            </a:r>
            <a:endParaRPr b="1" i="0" sz="1100" u="sng"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Accuracy: 83.41%</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Precision: 82.51%</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Recall: 89.09% (Strong at identifying true vulnerabilities)</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F1-Score: 0.8749</a:t>
            </a:r>
            <a:endParaRPr b="0" i="0" sz="1100" u="none" cap="none" strike="noStrike">
              <a:solidFill>
                <a:srgbClr val="000000"/>
              </a:solidFill>
              <a:latin typeface="Poppins"/>
              <a:ea typeface="Poppins"/>
              <a:cs typeface="Poppins"/>
              <a:sym typeface="Poppins"/>
            </a:endParaRPr>
          </a:p>
        </p:txBody>
      </p:sp>
      <p:pic>
        <p:nvPicPr>
          <p:cNvPr id="192" name="Google Shape;192;p30"/>
          <p:cNvPicPr preferRelativeResize="0"/>
          <p:nvPr/>
        </p:nvPicPr>
        <p:blipFill rotWithShape="1">
          <a:blip r:embed="rId3">
            <a:alphaModFix/>
          </a:blip>
          <a:srcRect b="5213" l="0" r="0" t="0"/>
          <a:stretch/>
        </p:blipFill>
        <p:spPr>
          <a:xfrm>
            <a:off x="4678550" y="1023049"/>
            <a:ext cx="4153551" cy="35430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p:nvPr/>
        </p:nvSpPr>
        <p:spPr>
          <a:xfrm>
            <a:off x="1474340" y="289870"/>
            <a:ext cx="61953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Gradient Boosting Classifier</a:t>
            </a:r>
            <a:endParaRPr b="0" i="0" sz="3200" u="none" cap="none" strike="noStrike">
              <a:solidFill>
                <a:srgbClr val="000000"/>
              </a:solidFill>
              <a:latin typeface="Arial"/>
              <a:ea typeface="Arial"/>
              <a:cs typeface="Arial"/>
              <a:sym typeface="Arial"/>
            </a:endParaRPr>
          </a:p>
        </p:txBody>
      </p:sp>
      <p:sp>
        <p:nvSpPr>
          <p:cNvPr id="198" name="Google Shape;198;p31"/>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199" name="Google Shape;199;p31"/>
          <p:cNvSpPr/>
          <p:nvPr/>
        </p:nvSpPr>
        <p:spPr>
          <a:xfrm>
            <a:off x="374175" y="1126838"/>
            <a:ext cx="4272900" cy="3543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We also implemented Gradient Boosting as a comparative ensemble approach. Unlike Random Forest, it builds trees sequentially, with each new tree correcting the residual errors of the previous one.</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400"/>
              <a:buFont typeface="Arial"/>
              <a:buNone/>
            </a:pPr>
            <a:r>
              <a:rPr b="1" i="0" lang="en-US" sz="1100" u="sng" cap="none" strike="noStrike">
                <a:solidFill>
                  <a:srgbClr val="000000"/>
                </a:solidFill>
                <a:latin typeface="Poppins"/>
                <a:ea typeface="Poppins"/>
                <a:cs typeface="Poppins"/>
                <a:sym typeface="Poppins"/>
              </a:rPr>
              <a:t>Model Configuration:</a:t>
            </a:r>
            <a:endParaRPr b="1" i="0" sz="1100" u="sng"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Estimators: 200 Trees</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Learning Rate: 0.08 (maxDepth=4)</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Threshold: Optimized at 0.364 (Tuned for maximum Precision-Recall balance)</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US" sz="1100" u="sng" cap="none" strike="noStrike">
                <a:solidFill>
                  <a:srgbClr val="000000"/>
                </a:solidFill>
                <a:latin typeface="Poppins"/>
                <a:ea typeface="Poppins"/>
                <a:cs typeface="Poppins"/>
                <a:sym typeface="Poppins"/>
              </a:rPr>
              <a:t>Performance Metrics:</a:t>
            </a:r>
            <a:endParaRPr b="1" i="0" sz="1100" u="sng"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Accuracy: 82.45%</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Precision: 84.92% (Highest Overall Precision)</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Recall: 93.23%</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F1-Score: 0.8887</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ROC-AUC: 0.9106 (Highest overall AUC)</a:t>
            </a:r>
            <a:endParaRPr b="0" i="0" sz="1100" u="none" cap="none" strike="noStrike">
              <a:solidFill>
                <a:srgbClr val="000000"/>
              </a:solidFill>
              <a:latin typeface="Poppins"/>
              <a:ea typeface="Poppins"/>
              <a:cs typeface="Poppins"/>
              <a:sym typeface="Poppins"/>
            </a:endParaRPr>
          </a:p>
        </p:txBody>
      </p:sp>
      <p:pic>
        <p:nvPicPr>
          <p:cNvPr id="200" name="Google Shape;200;p31"/>
          <p:cNvPicPr preferRelativeResize="0"/>
          <p:nvPr/>
        </p:nvPicPr>
        <p:blipFill rotWithShape="1">
          <a:blip r:embed="rId3">
            <a:alphaModFix/>
          </a:blip>
          <a:srcRect b="5891" l="0" r="0" t="0"/>
          <a:stretch/>
        </p:blipFill>
        <p:spPr>
          <a:xfrm>
            <a:off x="4692400" y="935700"/>
            <a:ext cx="4153525" cy="3734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p:nvPr/>
        </p:nvSpPr>
        <p:spPr>
          <a:xfrm>
            <a:off x="1390800" y="282225"/>
            <a:ext cx="63624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3200" u="none" cap="none" strike="noStrike">
                <a:solidFill>
                  <a:srgbClr val="1F2020"/>
                </a:solidFill>
                <a:latin typeface="Poppins"/>
                <a:ea typeface="Poppins"/>
                <a:cs typeface="Poppins"/>
                <a:sym typeface="Poppins"/>
              </a:rPr>
              <a:t>Support Vector Machine(SVM)</a:t>
            </a:r>
            <a:endParaRPr b="0" i="0" sz="3200" u="none" cap="none" strike="noStrike">
              <a:solidFill>
                <a:srgbClr val="000000"/>
              </a:solidFill>
              <a:latin typeface="Arial"/>
              <a:ea typeface="Arial"/>
              <a:cs typeface="Arial"/>
              <a:sym typeface="Arial"/>
            </a:endParaRPr>
          </a:p>
        </p:txBody>
      </p:sp>
      <p:sp>
        <p:nvSpPr>
          <p:cNvPr id="206" name="Google Shape;206;p32"/>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207" name="Google Shape;207;p32"/>
          <p:cNvSpPr/>
          <p:nvPr/>
        </p:nvSpPr>
        <p:spPr>
          <a:xfrm>
            <a:off x="374175" y="1126838"/>
            <a:ext cx="4272900" cy="35430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To contrast the tree-based ensembles, we evaluated an SVM with a Radial Basis Function (RBF) kernel. The SVM maps our feature vectors into a high-dimensional space to find the optimal hyperplane that maximizes the margin between true and false positives. </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400"/>
              <a:buFont typeface="Arial"/>
              <a:buNone/>
            </a:pPr>
            <a:r>
              <a:rPr b="1" i="0" lang="en-US" sz="1100" u="sng" cap="none" strike="noStrike">
                <a:solidFill>
                  <a:srgbClr val="000000"/>
                </a:solidFill>
                <a:latin typeface="Poppins"/>
                <a:ea typeface="Poppins"/>
                <a:cs typeface="Poppins"/>
                <a:sym typeface="Poppins"/>
              </a:rPr>
              <a:t>Model Configuration:</a:t>
            </a:r>
            <a:endParaRPr b="1" i="0" sz="1100" u="sng"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Kernel: RBF (Radial Basis Function)</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Regularization (C): 5.0</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Data Prep: Features scaled using StandardScaler</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Threshold: Standard 0.500</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1" i="0" lang="en-US" sz="1100" u="sng" cap="none" strike="noStrike">
                <a:solidFill>
                  <a:srgbClr val="000000"/>
                </a:solidFill>
                <a:latin typeface="Poppins"/>
                <a:ea typeface="Poppins"/>
                <a:cs typeface="Poppins"/>
                <a:sym typeface="Poppins"/>
              </a:rPr>
              <a:t>Performance Metrics:</a:t>
            </a:r>
            <a:endParaRPr b="1" i="0" sz="1100" u="sng"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Accuracy: 80.03%</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Precision: 84.29%</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Recall: 85.33%</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F1-Score: 0.8480</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Poppins"/>
                <a:ea typeface="Poppins"/>
                <a:cs typeface="Poppins"/>
                <a:sym typeface="Poppins"/>
              </a:rPr>
              <a:t>ROC-AUC: 0.8838</a:t>
            </a:r>
            <a:endParaRPr b="0" i="0" sz="1100" u="none" cap="none" strike="noStrike">
              <a:solidFill>
                <a:srgbClr val="000000"/>
              </a:solidFill>
              <a:latin typeface="Poppins"/>
              <a:ea typeface="Poppins"/>
              <a:cs typeface="Poppins"/>
              <a:sym typeface="Poppins"/>
            </a:endParaRPr>
          </a:p>
        </p:txBody>
      </p:sp>
      <p:pic>
        <p:nvPicPr>
          <p:cNvPr id="208" name="Google Shape;208;p32"/>
          <p:cNvPicPr preferRelativeResize="0"/>
          <p:nvPr/>
        </p:nvPicPr>
        <p:blipFill rotWithShape="1">
          <a:blip r:embed="rId3">
            <a:alphaModFix/>
          </a:blip>
          <a:srcRect b="5944" l="0" r="0" t="0"/>
          <a:stretch/>
        </p:blipFill>
        <p:spPr>
          <a:xfrm>
            <a:off x="4739025" y="863025"/>
            <a:ext cx="4161551" cy="3739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3"/>
          <p:cNvSpPr/>
          <p:nvPr/>
        </p:nvSpPr>
        <p:spPr>
          <a:xfrm>
            <a:off x="347100" y="205925"/>
            <a:ext cx="8449800" cy="58080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000000"/>
              </a:buClr>
              <a:buSzPts val="3200"/>
              <a:buFont typeface="Arial"/>
              <a:buNone/>
            </a:pPr>
            <a:r>
              <a:rPr b="1" i="0" lang="en-US" sz="2800" u="none" cap="none" strike="noStrike">
                <a:solidFill>
                  <a:srgbClr val="1F2020"/>
                </a:solidFill>
                <a:latin typeface="Poppins"/>
                <a:ea typeface="Poppins"/>
                <a:cs typeface="Poppins"/>
                <a:sym typeface="Poppins"/>
              </a:rPr>
              <a:t>Agentic Vulnerability Triage and Remediation</a:t>
            </a:r>
            <a:endParaRPr b="0" i="0" sz="2800" u="none" cap="none" strike="noStrike">
              <a:solidFill>
                <a:srgbClr val="000000"/>
              </a:solidFill>
              <a:latin typeface="Arial"/>
              <a:ea typeface="Arial"/>
              <a:cs typeface="Arial"/>
              <a:sym typeface="Arial"/>
            </a:endParaRPr>
          </a:p>
        </p:txBody>
      </p:sp>
      <p:sp>
        <p:nvSpPr>
          <p:cNvPr id="214" name="Google Shape;214;p33"/>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215" name="Google Shape;215;p33"/>
          <p:cNvSpPr/>
          <p:nvPr/>
        </p:nvSpPr>
        <p:spPr>
          <a:xfrm>
            <a:off x="389425" y="869550"/>
            <a:ext cx="5576100" cy="3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Clr>
                <a:srgbClr val="000000"/>
              </a:buClr>
              <a:buSzPts val="1400"/>
              <a:buFont typeface="Arial"/>
              <a:buNone/>
            </a:pPr>
            <a:r>
              <a:rPr b="0" i="0" lang="en-US" sz="1200" u="none" cap="none" strike="noStrike">
                <a:solidFill>
                  <a:srgbClr val="000000"/>
                </a:solidFill>
                <a:latin typeface="Poppins"/>
                <a:ea typeface="Poppins"/>
                <a:cs typeface="Poppins"/>
                <a:sym typeface="Poppins"/>
              </a:rPr>
              <a:t>Once CodeQL alerts are processed by our optimized Gradient Boosting Model, the system transitions from passive detection to active self-healing.</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200" u="sng" cap="none" strike="noStrike">
                <a:solidFill>
                  <a:srgbClr val="000000"/>
                </a:solidFill>
                <a:latin typeface="Poppins"/>
                <a:ea typeface="Poppins"/>
                <a:cs typeface="Poppins"/>
                <a:sym typeface="Poppins"/>
              </a:rPr>
              <a:t>The Automated Handoff Process:</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120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Confidence Thresholding:</a:t>
            </a:r>
            <a:r>
              <a:rPr b="0" i="0" lang="en-US" sz="1200" u="none" cap="none" strike="noStrike">
                <a:solidFill>
                  <a:srgbClr val="000000"/>
                </a:solidFill>
                <a:latin typeface="Poppins"/>
                <a:ea typeface="Poppins"/>
                <a:cs typeface="Poppins"/>
                <a:sym typeface="Poppins"/>
              </a:rPr>
              <a:t> The ML model evaluates each alert; only those exceeding the optimal confidence threshold (e.g., ≥ 0.364) are classified as actionable vulnerabilities. False positives are immediately discarded.</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Agent Triggering:</a:t>
            </a:r>
            <a:r>
              <a:rPr b="0" i="0" lang="en-US" sz="1200" u="none" cap="none" strike="noStrike">
                <a:solidFill>
                  <a:srgbClr val="000000"/>
                </a:solidFill>
                <a:latin typeface="Poppins"/>
                <a:ea typeface="Poppins"/>
                <a:cs typeface="Poppins"/>
                <a:sym typeface="Poppins"/>
              </a:rPr>
              <a:t> Confirmed vulnerabilities are pushed to the LLM Remediation Agent (powered by Llama-3.3-70b via Groq API).</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Context-Aware Patching:</a:t>
            </a:r>
            <a:r>
              <a:rPr b="0" i="0" lang="en-US" sz="1200" u="none" cap="none" strike="noStrike">
                <a:solidFill>
                  <a:srgbClr val="000000"/>
                </a:solidFill>
                <a:latin typeface="Poppins"/>
                <a:ea typeface="Poppins"/>
                <a:cs typeface="Poppins"/>
                <a:sym typeface="Poppins"/>
              </a:rPr>
              <a:t> The LLM receives the vulnerability type, rule description, and the specific code context to generate a targeted remediation.</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Autonomous Validation:</a:t>
            </a:r>
            <a:r>
              <a:rPr b="0" i="0" lang="en-US" sz="1200" u="none" cap="none" strike="noStrike">
                <a:solidFill>
                  <a:srgbClr val="000000"/>
                </a:solidFill>
                <a:latin typeface="Poppins"/>
                <a:ea typeface="Poppins"/>
                <a:cs typeface="Poppins"/>
                <a:sym typeface="Poppins"/>
              </a:rPr>
              <a:t> The system strictly tests the generated patch against the compiler and the static analysis engine before finalizing the fix.</a:t>
            </a:r>
            <a:endParaRPr b="0" i="0" sz="1200" u="none" cap="none" strike="noStrike">
              <a:solidFill>
                <a:srgbClr val="000000"/>
              </a:solidFill>
              <a:latin typeface="Poppins"/>
              <a:ea typeface="Poppins"/>
              <a:cs typeface="Poppins"/>
              <a:sym typeface="Poppins"/>
            </a:endParaRPr>
          </a:p>
        </p:txBody>
      </p:sp>
      <p:pic>
        <p:nvPicPr>
          <p:cNvPr id="216" name="Google Shape;216;p33"/>
          <p:cNvPicPr preferRelativeResize="0"/>
          <p:nvPr/>
        </p:nvPicPr>
        <p:blipFill rotWithShape="1">
          <a:blip r:embed="rId3">
            <a:alphaModFix/>
          </a:blip>
          <a:srcRect b="0" l="0" r="0" t="0"/>
          <a:stretch/>
        </p:blipFill>
        <p:spPr>
          <a:xfrm>
            <a:off x="6225125" y="613450"/>
            <a:ext cx="2352249" cy="41869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p:nvPr/>
        </p:nvSpPr>
        <p:spPr>
          <a:xfrm>
            <a:off x="138600" y="282225"/>
            <a:ext cx="88668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2700" u="none" cap="none" strike="noStrike">
                <a:solidFill>
                  <a:srgbClr val="1F2020"/>
                </a:solidFill>
                <a:latin typeface="Poppins"/>
                <a:ea typeface="Poppins"/>
                <a:cs typeface="Poppins"/>
                <a:sym typeface="Poppins"/>
              </a:rPr>
              <a:t>Remediation Phase 1 – Snippet-Based Patching</a:t>
            </a:r>
            <a:endParaRPr b="0" i="0" sz="2700" u="none" cap="none" strike="noStrike">
              <a:solidFill>
                <a:srgbClr val="000000"/>
              </a:solidFill>
              <a:latin typeface="Arial"/>
              <a:ea typeface="Arial"/>
              <a:cs typeface="Arial"/>
              <a:sym typeface="Arial"/>
            </a:endParaRPr>
          </a:p>
        </p:txBody>
      </p:sp>
      <p:sp>
        <p:nvSpPr>
          <p:cNvPr id="222" name="Google Shape;222;p34"/>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223" name="Google Shape;223;p34"/>
          <p:cNvSpPr/>
          <p:nvPr/>
        </p:nvSpPr>
        <p:spPr>
          <a:xfrm>
            <a:off x="366525" y="1254886"/>
            <a:ext cx="5358300" cy="299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Clr>
                <a:srgbClr val="000000"/>
              </a:buClr>
              <a:buSzPts val="1400"/>
              <a:buFont typeface="Arial"/>
              <a:buNone/>
            </a:pPr>
            <a:r>
              <a:rPr b="0" i="0" lang="en-US" sz="1200" u="none" cap="none" strike="noStrike">
                <a:solidFill>
                  <a:srgbClr val="000000"/>
                </a:solidFill>
                <a:latin typeface="Poppins"/>
                <a:ea typeface="Poppins"/>
                <a:cs typeface="Poppins"/>
                <a:sym typeface="Poppins"/>
              </a:rPr>
              <a:t>For the first attempt at fixing a vulnerability, the agent operates in Snippet Mode. It extracts the specific vulnerable line along with a highly localized context window (±5 lines) and sends only this snippet to the LLM.</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200" u="sng" cap="none" strike="noStrike">
                <a:solidFill>
                  <a:srgbClr val="000000"/>
                </a:solidFill>
                <a:latin typeface="Poppins"/>
                <a:ea typeface="Poppins"/>
                <a:cs typeface="Poppins"/>
                <a:sym typeface="Poppins"/>
              </a:rPr>
              <a:t>Why Snippet-Based First?</a:t>
            </a:r>
            <a:endParaRPr b="1" i="0" sz="1200" u="sng" cap="none" strike="noStrike">
              <a:solidFill>
                <a:srgbClr val="000000"/>
              </a:solidFill>
              <a:latin typeface="Poppins"/>
              <a:ea typeface="Poppins"/>
              <a:cs typeface="Poppins"/>
              <a:sym typeface="Poppins"/>
            </a:endParaRPr>
          </a:p>
          <a:p>
            <a:pPr indent="-304800" lvl="0" marL="457200" marR="0" rtl="0" algn="l">
              <a:lnSpc>
                <a:spcPct val="115000"/>
              </a:lnSpc>
              <a:spcBef>
                <a:spcPts val="120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Hyper-Focus:</a:t>
            </a:r>
            <a:r>
              <a:rPr b="0" i="0" lang="en-US" sz="1200" u="none" cap="none" strike="noStrike">
                <a:solidFill>
                  <a:srgbClr val="000000"/>
                </a:solidFill>
                <a:latin typeface="Poppins"/>
                <a:ea typeface="Poppins"/>
                <a:cs typeface="Poppins"/>
                <a:sym typeface="Poppins"/>
              </a:rPr>
              <a:t> By restricting the context, the LLM is forced to focus exclusively on the specific vulnerable sink or source, preventing it from getting "distracted" by unrelated logic.</a:t>
            </a:r>
            <a:endParaRPr b="0" i="0" sz="1200" u="none" cap="none" strike="noStrike">
              <a:solidFill>
                <a:srgbClr val="000000"/>
              </a:solidFill>
              <a:latin typeface="Poppins"/>
              <a:ea typeface="Poppins"/>
              <a:cs typeface="Poppins"/>
              <a:sym typeface="Poppins"/>
            </a:endParaRPr>
          </a:p>
          <a:p>
            <a:pPr indent="-304800" lvl="0" marL="457200" marR="0" rtl="0" algn="l">
              <a:lnSpc>
                <a:spcPct val="115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Safety &amp; Stability:</a:t>
            </a:r>
            <a:r>
              <a:rPr b="0" i="0" lang="en-US" sz="1200" u="none" cap="none" strike="noStrike">
                <a:solidFill>
                  <a:srgbClr val="000000"/>
                </a:solidFill>
                <a:latin typeface="Poppins"/>
                <a:ea typeface="Poppins"/>
                <a:cs typeface="Poppins"/>
                <a:sym typeface="Poppins"/>
              </a:rPr>
              <a:t> Modifying only a 10-line block drastically reduces the risk of the LLM hallucinating changes or accidentally breaking other working functions within the file.</a:t>
            </a:r>
            <a:endParaRPr b="0" i="0" sz="1200" u="none" cap="none" strike="noStrike">
              <a:solidFill>
                <a:srgbClr val="000000"/>
              </a:solidFill>
              <a:latin typeface="Poppins"/>
              <a:ea typeface="Poppins"/>
              <a:cs typeface="Poppins"/>
              <a:sym typeface="Poppins"/>
            </a:endParaRPr>
          </a:p>
          <a:p>
            <a:pPr indent="-304800" lvl="0" marL="457200" marR="0" rtl="0" algn="l">
              <a:lnSpc>
                <a:spcPct val="115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Efficiency:</a:t>
            </a:r>
            <a:r>
              <a:rPr b="0" i="0" lang="en-US" sz="1200" u="none" cap="none" strike="noStrike">
                <a:solidFill>
                  <a:srgbClr val="000000"/>
                </a:solidFill>
                <a:latin typeface="Poppins"/>
                <a:ea typeface="Poppins"/>
                <a:cs typeface="Poppins"/>
                <a:sym typeface="Poppins"/>
              </a:rPr>
              <a:t> Snippets require significantly fewer tokens, resulting in highly rapid, low-latency patch generation.</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200" u="none" cap="none" strike="noStrike">
              <a:solidFill>
                <a:srgbClr val="000000"/>
              </a:solidFill>
              <a:latin typeface="Poppins"/>
              <a:ea typeface="Poppins"/>
              <a:cs typeface="Poppins"/>
              <a:sym typeface="Poppins"/>
            </a:endParaRPr>
          </a:p>
        </p:txBody>
      </p:sp>
      <p:pic>
        <p:nvPicPr>
          <p:cNvPr id="224" name="Google Shape;224;p34"/>
          <p:cNvPicPr preferRelativeResize="0"/>
          <p:nvPr/>
        </p:nvPicPr>
        <p:blipFill>
          <a:blip r:embed="rId3">
            <a:alphaModFix/>
          </a:blip>
          <a:stretch>
            <a:fillRect/>
          </a:stretch>
        </p:blipFill>
        <p:spPr>
          <a:xfrm>
            <a:off x="6470925" y="750925"/>
            <a:ext cx="2067675" cy="411582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p:nvPr/>
        </p:nvSpPr>
        <p:spPr>
          <a:xfrm>
            <a:off x="347100" y="282200"/>
            <a:ext cx="84498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2800" u="none" cap="none" strike="noStrike">
                <a:solidFill>
                  <a:srgbClr val="1F2020"/>
                </a:solidFill>
                <a:latin typeface="Poppins"/>
                <a:ea typeface="Poppins"/>
                <a:cs typeface="Poppins"/>
                <a:sym typeface="Poppins"/>
              </a:rPr>
              <a:t>Remediation Phase 2 – Full-File Escalation</a:t>
            </a:r>
            <a:endParaRPr b="0" i="0" sz="2800" u="none" cap="none" strike="noStrike">
              <a:solidFill>
                <a:srgbClr val="000000"/>
              </a:solidFill>
              <a:latin typeface="Arial"/>
              <a:ea typeface="Arial"/>
              <a:cs typeface="Arial"/>
              <a:sym typeface="Arial"/>
            </a:endParaRPr>
          </a:p>
        </p:txBody>
      </p:sp>
      <p:sp>
        <p:nvSpPr>
          <p:cNvPr id="230" name="Google Shape;230;p35"/>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231" name="Google Shape;231;p35"/>
          <p:cNvSpPr/>
          <p:nvPr/>
        </p:nvSpPr>
        <p:spPr>
          <a:xfrm>
            <a:off x="389425" y="728450"/>
            <a:ext cx="5554800" cy="4339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1200"/>
              </a:spcBef>
              <a:spcAft>
                <a:spcPts val="0"/>
              </a:spcAft>
              <a:buClr>
                <a:srgbClr val="000000"/>
              </a:buClr>
              <a:buSzPts val="1400"/>
              <a:buFont typeface="Arial"/>
              <a:buNone/>
            </a:pPr>
            <a:r>
              <a:rPr b="0" i="0" lang="en-US" sz="1200" u="none" cap="none" strike="noStrike">
                <a:solidFill>
                  <a:srgbClr val="000000"/>
                </a:solidFill>
                <a:latin typeface="Poppins"/>
                <a:ea typeface="Poppins"/>
                <a:cs typeface="Poppins"/>
                <a:sym typeface="Poppins"/>
              </a:rPr>
              <a:t>If Snippet Mode fails to produce a viable, compiling patch after the first attempt, the agentic loop automatically escalates the issue to Full-File Mode for its final iteration. The entire .java file is sent to the LLM.</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200" u="none" cap="none" strike="noStrike">
                <a:solidFill>
                  <a:srgbClr val="000000"/>
                </a:solidFill>
                <a:latin typeface="Poppins"/>
                <a:ea typeface="Poppins"/>
                <a:cs typeface="Poppins"/>
                <a:sym typeface="Poppins"/>
              </a:rPr>
              <a:t>Why is Full-File Context Necessary?</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120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Complex Dependencies:</a:t>
            </a:r>
            <a:r>
              <a:rPr b="0" i="0" lang="en-US" sz="1200" u="none" cap="none" strike="noStrike">
                <a:solidFill>
                  <a:srgbClr val="000000"/>
                </a:solidFill>
                <a:latin typeface="Poppins"/>
                <a:ea typeface="Poppins"/>
                <a:cs typeface="Poppins"/>
                <a:sym typeface="Poppins"/>
              </a:rPr>
              <a:t> Many vulnerabilities (like SQL Injection or XSS) cannot be fixed with a simple inline change. They require importing entirely new security libraries or sanitization classes.</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Structural Refactoring:</a:t>
            </a:r>
            <a:r>
              <a:rPr b="0" i="0" lang="en-US" sz="1200" u="none" cap="none" strike="noStrike">
                <a:solidFill>
                  <a:srgbClr val="000000"/>
                </a:solidFill>
                <a:latin typeface="Poppins"/>
                <a:ea typeface="Poppins"/>
                <a:cs typeface="Poppins"/>
                <a:sym typeface="Poppins"/>
              </a:rPr>
              <a:t> The LLM may need to modify class-level variables, change method signatures, or rewrite how a request object is handled from the top of the file down to the vulnerability.</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Holistic Understanding:</a:t>
            </a:r>
            <a:r>
              <a:rPr b="0" i="0" lang="en-US" sz="1200" u="none" cap="none" strike="noStrike">
                <a:solidFill>
                  <a:srgbClr val="000000"/>
                </a:solidFill>
                <a:latin typeface="Poppins"/>
                <a:ea typeface="Poppins"/>
                <a:cs typeface="Poppins"/>
                <a:sym typeface="Poppins"/>
              </a:rPr>
              <a:t> Providing the whole file allows the LLM to understand custom application logic, ensuring the security patch aligns with the existing architecture.</a:t>
            </a:r>
            <a:endParaRPr b="0" i="0" sz="1200" u="none" cap="none" strike="noStrike">
              <a:solidFill>
                <a:srgbClr val="000000"/>
              </a:solidFill>
              <a:latin typeface="Poppins"/>
              <a:ea typeface="Poppins"/>
              <a:cs typeface="Poppins"/>
              <a:sym typeface="Poppins"/>
            </a:endParaRPr>
          </a:p>
        </p:txBody>
      </p:sp>
      <p:pic>
        <p:nvPicPr>
          <p:cNvPr id="232" name="Google Shape;232;p35"/>
          <p:cNvPicPr preferRelativeResize="0"/>
          <p:nvPr/>
        </p:nvPicPr>
        <p:blipFill>
          <a:blip r:embed="rId3">
            <a:alphaModFix/>
          </a:blip>
          <a:stretch>
            <a:fillRect/>
          </a:stretch>
        </p:blipFill>
        <p:spPr>
          <a:xfrm>
            <a:off x="6470925" y="750925"/>
            <a:ext cx="2075350" cy="41310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p:nvPr/>
        </p:nvSpPr>
        <p:spPr>
          <a:xfrm>
            <a:off x="347100" y="251700"/>
            <a:ext cx="8449800" cy="580800"/>
          </a:xfrm>
          <a:prstGeom prst="rect">
            <a:avLst/>
          </a:prstGeom>
          <a:noFill/>
          <a:ln>
            <a:noFill/>
          </a:ln>
        </p:spPr>
        <p:txBody>
          <a:bodyPr anchorCtr="0" anchor="t" bIns="0" lIns="0" spcFirstLastPara="1" rIns="0" wrap="square" tIns="0">
            <a:noAutofit/>
          </a:bodyPr>
          <a:lstStyle/>
          <a:p>
            <a:pPr indent="0" lvl="0" marL="0" marR="0" rtl="0" algn="ctr">
              <a:lnSpc>
                <a:spcPct val="119000"/>
              </a:lnSpc>
              <a:spcBef>
                <a:spcPts val="0"/>
              </a:spcBef>
              <a:spcAft>
                <a:spcPts val="0"/>
              </a:spcAft>
              <a:buClr>
                <a:srgbClr val="000000"/>
              </a:buClr>
              <a:buSzPts val="3200"/>
              <a:buFont typeface="Arial"/>
              <a:buNone/>
            </a:pPr>
            <a:r>
              <a:rPr b="1" i="0" lang="en-US" sz="2800" u="none" cap="none" strike="noStrike">
                <a:solidFill>
                  <a:srgbClr val="1F2020"/>
                </a:solidFill>
                <a:latin typeface="Poppins"/>
                <a:ea typeface="Poppins"/>
                <a:cs typeface="Poppins"/>
                <a:sym typeface="Poppins"/>
              </a:rPr>
              <a:t>The Agentic Validation Loop</a:t>
            </a:r>
            <a:endParaRPr b="0" i="0" sz="2800" u="none" cap="none" strike="noStrike">
              <a:solidFill>
                <a:srgbClr val="000000"/>
              </a:solidFill>
              <a:latin typeface="Arial"/>
              <a:ea typeface="Arial"/>
              <a:cs typeface="Arial"/>
              <a:sym typeface="Arial"/>
            </a:endParaRPr>
          </a:p>
        </p:txBody>
      </p:sp>
      <p:sp>
        <p:nvSpPr>
          <p:cNvPr id="238" name="Google Shape;238;p36"/>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239" name="Google Shape;239;p36"/>
          <p:cNvSpPr/>
          <p:nvPr/>
        </p:nvSpPr>
        <p:spPr>
          <a:xfrm>
            <a:off x="389425" y="728450"/>
            <a:ext cx="5913600" cy="433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Clr>
                <a:srgbClr val="000000"/>
              </a:buClr>
              <a:buSzPts val="1400"/>
              <a:buFont typeface="Arial"/>
              <a:buNone/>
            </a:pPr>
            <a:r>
              <a:rPr b="0" i="0" lang="en-US" sz="1200" u="none" cap="none" strike="noStrike">
                <a:solidFill>
                  <a:srgbClr val="000000"/>
                </a:solidFill>
                <a:latin typeface="Poppins"/>
                <a:ea typeface="Poppins"/>
                <a:cs typeface="Poppins"/>
                <a:sym typeface="Poppins"/>
              </a:rPr>
              <a:t>LLMs are prone to hallucinations and syntax errors. To guarantee the integrity of the codebase, our agent employs a Zero-Trust Validation Loop after every single patch iteration.</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200" u="sng" cap="none" strike="noStrike">
                <a:solidFill>
                  <a:srgbClr val="000000"/>
                </a:solidFill>
                <a:latin typeface="Poppins"/>
                <a:ea typeface="Poppins"/>
                <a:cs typeface="Poppins"/>
                <a:sym typeface="Poppins"/>
              </a:rPr>
              <a:t>The Two-Tier Verification System:</a:t>
            </a:r>
            <a:endParaRPr b="1" i="0" sz="1200" u="sng"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200" u="none" cap="none" strike="noStrike">
                <a:solidFill>
                  <a:srgbClr val="000000"/>
                </a:solidFill>
                <a:latin typeface="Poppins"/>
                <a:ea typeface="Poppins"/>
                <a:cs typeface="Poppins"/>
                <a:sym typeface="Poppins"/>
              </a:rPr>
              <a:t>Tier 1: Syntax &amp; Compilation Check (</a:t>
            </a:r>
            <a:r>
              <a:rPr b="0" i="0" lang="en-US" sz="1200" u="none" cap="none" strike="noStrike">
                <a:solidFill>
                  <a:srgbClr val="000000"/>
                </a:solidFill>
                <a:latin typeface="Courier New"/>
                <a:ea typeface="Courier New"/>
                <a:cs typeface="Courier New"/>
                <a:sym typeface="Courier New"/>
              </a:rPr>
              <a:t>mvn clean compile</a:t>
            </a:r>
            <a:r>
              <a:rPr b="1" i="0" lang="en-US" sz="1200" u="none" cap="none" strike="noStrike">
                <a:solidFill>
                  <a:srgbClr val="000000"/>
                </a:solidFill>
                <a:latin typeface="Poppins"/>
                <a:ea typeface="Poppins"/>
                <a:cs typeface="Poppins"/>
                <a:sym typeface="Poppins"/>
              </a:rPr>
              <a:t>)</a:t>
            </a:r>
            <a:endParaRPr b="1"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120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The moment the LLM writes a patch, the agent triggers the Java compiler.</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If the code fails to compile (e.g., bad syntax, missing imports), the agent instantly reverts the file and records the failure, moving to the next iteration.</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200" u="none" cap="none" strike="noStrike">
                <a:solidFill>
                  <a:srgbClr val="000000"/>
                </a:solidFill>
                <a:latin typeface="Poppins"/>
                <a:ea typeface="Poppins"/>
                <a:cs typeface="Poppins"/>
                <a:sym typeface="Poppins"/>
              </a:rPr>
              <a:t>Tier 2: CodeQL Re-Scan</a:t>
            </a:r>
            <a:endParaRPr b="1"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120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If the code successfully compiles, the system triggers a localized CodeQL re-scan.</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The agent parses the new SARIF report to verify that the specific vulnerability rule ID has actually disappeared.</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rPr b="1" i="0" lang="en-US" sz="1200" u="none" cap="none" strike="noStrike">
                <a:solidFill>
                  <a:srgbClr val="000000"/>
                </a:solidFill>
                <a:latin typeface="Poppins"/>
                <a:ea typeface="Poppins"/>
                <a:cs typeface="Poppins"/>
                <a:sym typeface="Poppins"/>
              </a:rPr>
              <a:t>Result: </a:t>
            </a:r>
            <a:r>
              <a:rPr b="0" i="0" lang="en-US" sz="1200" u="none" cap="none" strike="noStrike">
                <a:solidFill>
                  <a:srgbClr val="000000"/>
                </a:solidFill>
                <a:latin typeface="Poppins"/>
                <a:ea typeface="Poppins"/>
                <a:cs typeface="Poppins"/>
                <a:sym typeface="Poppins"/>
              </a:rPr>
              <a:t>Only patches that both compile perfectly and pass the strict SAST security check are automatically committed back to the GitHub repository.</a:t>
            </a:r>
            <a:endParaRPr b="0" i="0" sz="1200" u="none" cap="none" strike="noStrike">
              <a:solidFill>
                <a:srgbClr val="000000"/>
              </a:solidFill>
              <a:latin typeface="Poppins"/>
              <a:ea typeface="Poppins"/>
              <a:cs typeface="Poppins"/>
              <a:sym typeface="Poppins"/>
            </a:endParaRPr>
          </a:p>
        </p:txBody>
      </p:sp>
      <p:pic>
        <p:nvPicPr>
          <p:cNvPr id="240" name="Google Shape;240;p36"/>
          <p:cNvPicPr preferRelativeResize="0"/>
          <p:nvPr/>
        </p:nvPicPr>
        <p:blipFill>
          <a:blip r:embed="rId3">
            <a:alphaModFix/>
          </a:blip>
          <a:stretch>
            <a:fillRect/>
          </a:stretch>
        </p:blipFill>
        <p:spPr>
          <a:xfrm>
            <a:off x="6470925" y="750925"/>
            <a:ext cx="2067675" cy="411582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p:nvPr/>
        </p:nvSpPr>
        <p:spPr>
          <a:xfrm>
            <a:off x="389425" y="205925"/>
            <a:ext cx="8449800" cy="58080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000000"/>
              </a:buClr>
              <a:buSzPts val="3200"/>
              <a:buFont typeface="Arial"/>
              <a:buNone/>
            </a:pPr>
            <a:r>
              <a:rPr b="1" i="0" lang="en-US" sz="2800" u="none" cap="none" strike="noStrike">
                <a:solidFill>
                  <a:srgbClr val="1F2020"/>
                </a:solidFill>
                <a:latin typeface="Poppins"/>
                <a:ea typeface="Poppins"/>
                <a:cs typeface="Poppins"/>
                <a:sym typeface="Poppins"/>
              </a:rPr>
              <a:t>Agentic Vulnerability Triage and Remediation</a:t>
            </a:r>
            <a:endParaRPr b="0" i="0" sz="2800" u="none" cap="none" strike="noStrike">
              <a:solidFill>
                <a:srgbClr val="000000"/>
              </a:solidFill>
              <a:latin typeface="Arial"/>
              <a:ea typeface="Arial"/>
              <a:cs typeface="Arial"/>
              <a:sym typeface="Arial"/>
            </a:endParaRPr>
          </a:p>
        </p:txBody>
      </p:sp>
      <p:sp>
        <p:nvSpPr>
          <p:cNvPr id="246" name="Google Shape;246;p37"/>
          <p:cNvSpPr/>
          <p:nvPr/>
        </p:nvSpPr>
        <p:spPr>
          <a:xfrm>
            <a:off x="17674560" y="8720280"/>
            <a:ext cx="442500" cy="3135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1470"/>
              <a:buFont typeface="Arial"/>
              <a:buNone/>
            </a:pPr>
            <a:r>
              <a:rPr b="0" i="0" lang="en-US" sz="1470" u="none" cap="none" strike="noStrike">
                <a:solidFill>
                  <a:srgbClr val="FFFFFF"/>
                </a:solidFill>
                <a:latin typeface="Arial"/>
                <a:ea typeface="Arial"/>
                <a:cs typeface="Arial"/>
                <a:sym typeface="Arial"/>
              </a:rPr>
              <a:t>09</a:t>
            </a:r>
            <a:endParaRPr b="0" i="0" sz="1470" u="none" cap="none" strike="noStrike">
              <a:solidFill>
                <a:srgbClr val="000000"/>
              </a:solidFill>
              <a:latin typeface="Arial"/>
              <a:ea typeface="Arial"/>
              <a:cs typeface="Arial"/>
              <a:sym typeface="Arial"/>
            </a:endParaRPr>
          </a:p>
        </p:txBody>
      </p:sp>
      <p:sp>
        <p:nvSpPr>
          <p:cNvPr id="247" name="Google Shape;247;p37"/>
          <p:cNvSpPr/>
          <p:nvPr/>
        </p:nvSpPr>
        <p:spPr>
          <a:xfrm>
            <a:off x="476500" y="786725"/>
            <a:ext cx="2464200" cy="3135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300"/>
              <a:buFont typeface="Arial"/>
              <a:buNone/>
            </a:pPr>
            <a:r>
              <a:rPr b="1" i="0" lang="en-US" sz="1300" u="none" cap="none" strike="noStrike">
                <a:solidFill>
                  <a:srgbClr val="000000"/>
                </a:solidFill>
                <a:latin typeface="Poppins"/>
                <a:ea typeface="Poppins"/>
                <a:cs typeface="Poppins"/>
                <a:sym typeface="Poppins"/>
              </a:rPr>
              <a:t>Example Agent Output</a:t>
            </a:r>
            <a:endParaRPr b="1" i="0" sz="13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000000"/>
              </a:solidFill>
              <a:latin typeface="Poppins"/>
              <a:ea typeface="Poppins"/>
              <a:cs typeface="Poppins"/>
              <a:sym typeface="Poppins"/>
            </a:endParaRPr>
          </a:p>
          <a:p>
            <a:pPr indent="0" lvl="0" marL="457200" marR="0" rtl="0" algn="l">
              <a:lnSpc>
                <a:spcPct val="115000"/>
              </a:lnSpc>
              <a:spcBef>
                <a:spcPts val="1200"/>
              </a:spcBef>
              <a:spcAft>
                <a:spcPts val="0"/>
              </a:spcAft>
              <a:buClr>
                <a:srgbClr val="000000"/>
              </a:buClr>
              <a:buSzPts val="1100"/>
              <a:buFont typeface="Arial"/>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Poppins"/>
                <a:ea typeface="Poppins"/>
                <a:cs typeface="Poppins"/>
                <a:sym typeface="Poppins"/>
              </a:rPr>
              <a:t>	</a:t>
            </a:r>
            <a:endParaRPr b="0" i="0" sz="1100" u="none" cap="none" strike="noStrike">
              <a:solidFill>
                <a:srgbClr val="000000"/>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400"/>
              <a:buFont typeface="Arial"/>
              <a:buNone/>
            </a:pPr>
            <a:r>
              <a:t/>
            </a:r>
            <a:endParaRPr b="0" i="0" sz="1100" u="none" cap="none" strike="noStrike">
              <a:solidFill>
                <a:srgbClr val="000000"/>
              </a:solidFill>
              <a:latin typeface="Poppins"/>
              <a:ea typeface="Poppins"/>
              <a:cs typeface="Poppins"/>
              <a:sym typeface="Poppins"/>
            </a:endParaRPr>
          </a:p>
        </p:txBody>
      </p:sp>
      <p:pic>
        <p:nvPicPr>
          <p:cNvPr id="248" name="Google Shape;248;p37"/>
          <p:cNvPicPr preferRelativeResize="0"/>
          <p:nvPr/>
        </p:nvPicPr>
        <p:blipFill rotWithShape="1">
          <a:blip r:embed="rId3">
            <a:alphaModFix/>
          </a:blip>
          <a:srcRect b="0" l="0" r="0" t="0"/>
          <a:stretch/>
        </p:blipFill>
        <p:spPr>
          <a:xfrm>
            <a:off x="652100" y="2663725"/>
            <a:ext cx="4724400" cy="809625"/>
          </a:xfrm>
          <a:prstGeom prst="rect">
            <a:avLst/>
          </a:prstGeom>
          <a:noFill/>
          <a:ln>
            <a:noFill/>
          </a:ln>
        </p:spPr>
      </p:pic>
      <p:pic>
        <p:nvPicPr>
          <p:cNvPr id="249" name="Google Shape;249;p37"/>
          <p:cNvPicPr preferRelativeResize="0"/>
          <p:nvPr/>
        </p:nvPicPr>
        <p:blipFill rotWithShape="1">
          <a:blip r:embed="rId4">
            <a:alphaModFix/>
          </a:blip>
          <a:srcRect b="0" l="0" r="0" t="0"/>
          <a:stretch/>
        </p:blipFill>
        <p:spPr>
          <a:xfrm>
            <a:off x="695650" y="4045075"/>
            <a:ext cx="4724400" cy="704850"/>
          </a:xfrm>
          <a:prstGeom prst="rect">
            <a:avLst/>
          </a:prstGeom>
          <a:noFill/>
          <a:ln>
            <a:noFill/>
          </a:ln>
        </p:spPr>
      </p:pic>
      <p:sp>
        <p:nvSpPr>
          <p:cNvPr id="250" name="Google Shape;250;p37"/>
          <p:cNvSpPr txBox="1"/>
          <p:nvPr/>
        </p:nvSpPr>
        <p:spPr>
          <a:xfrm>
            <a:off x="476500" y="2223450"/>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Poppins"/>
                <a:ea typeface="Poppins"/>
                <a:cs typeface="Poppins"/>
                <a:sym typeface="Poppins"/>
              </a:rPr>
              <a:t>Vulnerable Code</a:t>
            </a:r>
            <a:endParaRPr b="1" i="0" sz="1300" u="none" cap="none" strike="noStrike">
              <a:solidFill>
                <a:srgbClr val="000000"/>
              </a:solidFill>
              <a:latin typeface="Poppins"/>
              <a:ea typeface="Poppins"/>
              <a:cs typeface="Poppins"/>
              <a:sym typeface="Poppins"/>
            </a:endParaRPr>
          </a:p>
        </p:txBody>
      </p:sp>
      <p:sp>
        <p:nvSpPr>
          <p:cNvPr id="251" name="Google Shape;251;p37"/>
          <p:cNvSpPr txBox="1"/>
          <p:nvPr/>
        </p:nvSpPr>
        <p:spPr>
          <a:xfrm>
            <a:off x="476500" y="3653275"/>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Poppins"/>
                <a:ea typeface="Poppins"/>
                <a:cs typeface="Poppins"/>
                <a:sym typeface="Poppins"/>
              </a:rPr>
              <a:t>Suggested Patch</a:t>
            </a:r>
            <a:endParaRPr b="1" i="0" sz="1300" u="none" cap="none" strike="noStrike">
              <a:solidFill>
                <a:srgbClr val="000000"/>
              </a:solidFill>
              <a:latin typeface="Poppins"/>
              <a:ea typeface="Poppins"/>
              <a:cs typeface="Poppins"/>
              <a:sym typeface="Poppins"/>
            </a:endParaRPr>
          </a:p>
        </p:txBody>
      </p:sp>
      <p:pic>
        <p:nvPicPr>
          <p:cNvPr id="252" name="Google Shape;252;p37"/>
          <p:cNvPicPr preferRelativeResize="0"/>
          <p:nvPr/>
        </p:nvPicPr>
        <p:blipFill rotWithShape="1">
          <a:blip r:embed="rId5">
            <a:alphaModFix/>
          </a:blip>
          <a:srcRect b="0" l="0" r="0" t="0"/>
          <a:stretch/>
        </p:blipFill>
        <p:spPr>
          <a:xfrm>
            <a:off x="652100" y="1035800"/>
            <a:ext cx="6292825" cy="1237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idx="4294967295" type="title"/>
          </p:nvPr>
        </p:nvSpPr>
        <p:spPr>
          <a:xfrm>
            <a:off x="1973160" y="1856160"/>
            <a:ext cx="6457200" cy="1024200"/>
          </a:xfrm>
          <a:prstGeom prst="rect">
            <a:avLst/>
          </a:prstGeom>
          <a:solidFill>
            <a:schemeClr val="dk1"/>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Clr>
                <a:schemeClr val="lt1"/>
              </a:buClr>
              <a:buSzPts val="4900"/>
              <a:buFont typeface="Figtree Black"/>
              <a:buNone/>
            </a:pPr>
            <a:r>
              <a:rPr b="0" i="0" lang="en-US" sz="4800" u="none" cap="none" strike="noStrike">
                <a:solidFill>
                  <a:schemeClr val="lt1"/>
                </a:solidFill>
                <a:latin typeface="Figtree Black"/>
                <a:ea typeface="Figtree Black"/>
                <a:cs typeface="Figtree Black"/>
                <a:sym typeface="Figtree Black"/>
              </a:rPr>
              <a:t>Part </a:t>
            </a:r>
            <a:r>
              <a:rPr lang="en-US" sz="4800">
                <a:solidFill>
                  <a:schemeClr val="lt1"/>
                </a:solidFill>
                <a:latin typeface="Figtree Black"/>
                <a:ea typeface="Figtree Black"/>
                <a:cs typeface="Figtree Black"/>
                <a:sym typeface="Figtree Black"/>
              </a:rPr>
              <a:t>6</a:t>
            </a:r>
            <a:r>
              <a:rPr b="0" i="0" lang="en-US" sz="4800" u="none" cap="none" strike="noStrike">
                <a:solidFill>
                  <a:schemeClr val="lt1"/>
                </a:solidFill>
                <a:latin typeface="Figtree Black"/>
                <a:ea typeface="Figtree Black"/>
                <a:cs typeface="Figtree Black"/>
                <a:sym typeface="Figtree Black"/>
              </a:rPr>
              <a:t>: Result</a:t>
            </a:r>
            <a:r>
              <a:rPr lang="en-US" sz="4800">
                <a:solidFill>
                  <a:schemeClr val="lt1"/>
                </a:solidFill>
                <a:latin typeface="Figtree Black"/>
                <a:ea typeface="Figtree Black"/>
                <a:cs typeface="Figtree Black"/>
                <a:sym typeface="Figtree Black"/>
              </a:rPr>
              <a:t>s</a:t>
            </a:r>
            <a:endParaRPr b="0" i="0" sz="4800" u="none" cap="none" strike="noStrike">
              <a:solidFill>
                <a:srgbClr val="000000"/>
              </a:solidFill>
              <a:latin typeface="Arial"/>
              <a:ea typeface="Arial"/>
              <a:cs typeface="Arial"/>
              <a:sym typeface="Arial"/>
            </a:endParaRPr>
          </a:p>
        </p:txBody>
      </p:sp>
      <p:sp>
        <p:nvSpPr>
          <p:cNvPr id="258" name="Google Shape;258;p38"/>
          <p:cNvSpPr txBox="1"/>
          <p:nvPr>
            <p:ph idx="4294967295" type="subTitle"/>
          </p:nvPr>
        </p:nvSpPr>
        <p:spPr>
          <a:xfrm>
            <a:off x="2603160" y="3506400"/>
            <a:ext cx="5827200" cy="40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1F2020"/>
              </a:buClr>
              <a:buSzPts val="2800"/>
              <a:buFont typeface="Poppins"/>
              <a:buNone/>
            </a:pPr>
            <a:r>
              <a:rPr b="1" lang="en-US" sz="2300"/>
              <a:t>Overall Comparison</a:t>
            </a:r>
            <a:endParaRPr b="1" sz="2800">
              <a:solidFill>
                <a:srgbClr val="1F2020"/>
              </a:solidFill>
              <a:latin typeface="Poppins"/>
              <a:ea typeface="Poppins"/>
              <a:cs typeface="Poppins"/>
              <a:sym typeface="Poppins"/>
            </a:endParaRPr>
          </a:p>
        </p:txBody>
      </p:sp>
      <p:sp>
        <p:nvSpPr>
          <p:cNvPr id="264" name="Google Shape;264;p39"/>
          <p:cNvSpPr/>
          <p:nvPr/>
        </p:nvSpPr>
        <p:spPr>
          <a:xfrm>
            <a:off x="311925" y="1464600"/>
            <a:ext cx="4517100" cy="2880600"/>
          </a:xfrm>
          <a:prstGeom prst="rect">
            <a:avLst/>
          </a:prstGeom>
          <a:noFill/>
          <a:ln>
            <a:noFill/>
          </a:ln>
        </p:spPr>
        <p:txBody>
          <a:bodyPr anchorCtr="0" anchor="t" bIns="45000" lIns="90000" spcFirstLastPara="1" rIns="90000" wrap="square" tIns="45000">
            <a:noAutofit/>
          </a:bodyPr>
          <a:lstStyle/>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The Baseline Failure</a:t>
            </a:r>
            <a:r>
              <a:rPr b="0" i="0" lang="en-US" sz="1200" u="none" cap="none" strike="noStrike">
                <a:solidFill>
                  <a:srgbClr val="000000"/>
                </a:solidFill>
                <a:latin typeface="Poppins"/>
                <a:ea typeface="Poppins"/>
                <a:cs typeface="Poppins"/>
                <a:sym typeface="Poppins"/>
              </a:rPr>
              <a:t>: Traditional Static Analysis (CodeQL) yielded poor precision (60%). 4 out of 10 alerts presented to developers were false alarms.</a:t>
            </a:r>
            <a:endParaRPr b="0" i="0" sz="12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The ML Solution</a:t>
            </a:r>
            <a:r>
              <a:rPr b="0" i="0" lang="en-US" sz="1200" u="none" cap="none" strike="noStrike">
                <a:solidFill>
                  <a:srgbClr val="000000"/>
                </a:solidFill>
                <a:latin typeface="Poppins"/>
                <a:ea typeface="Poppins"/>
                <a:cs typeface="Poppins"/>
                <a:sym typeface="Poppins"/>
              </a:rPr>
              <a:t>: Routing raw alerts through our Gradient Boosting Machine (GBM) </a:t>
            </a:r>
            <a:r>
              <a:rPr lang="en-US" sz="1200">
                <a:latin typeface="Poppins"/>
                <a:ea typeface="Poppins"/>
                <a:cs typeface="Poppins"/>
                <a:sym typeface="Poppins"/>
              </a:rPr>
              <a:t>increased </a:t>
            </a:r>
            <a:r>
              <a:rPr b="0" i="0" lang="en-US" sz="1200" u="none" cap="none" strike="noStrike">
                <a:solidFill>
                  <a:srgbClr val="000000"/>
                </a:solidFill>
                <a:latin typeface="Poppins"/>
                <a:ea typeface="Poppins"/>
                <a:cs typeface="Poppins"/>
                <a:sym typeface="Poppins"/>
              </a:rPr>
              <a:t>precision to 84.9%.</a:t>
            </a:r>
            <a:endParaRPr b="0" i="0" sz="12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1" i="0" lang="en-US" sz="1200" u="none" cap="none" strike="noStrike">
                <a:solidFill>
                  <a:srgbClr val="000000"/>
                </a:solidFill>
                <a:latin typeface="Poppins"/>
                <a:ea typeface="Poppins"/>
                <a:cs typeface="Poppins"/>
                <a:sym typeface="Poppins"/>
              </a:rPr>
              <a:t>Zero Security Compromise</a:t>
            </a:r>
            <a:r>
              <a:rPr b="0" i="0" lang="en-US" sz="1200" u="none" cap="none" strike="noStrike">
                <a:solidFill>
                  <a:srgbClr val="000000"/>
                </a:solidFill>
                <a:latin typeface="Poppins"/>
                <a:ea typeface="Poppins"/>
                <a:cs typeface="Poppins"/>
                <a:sym typeface="Poppins"/>
              </a:rPr>
              <a:t>: We achieved this massive noise reduction while maintaining a phenomenal 93.10% Recall, ensuring critical vulnerabilities did not slip through.</a:t>
            </a:r>
            <a:endParaRPr b="0" i="0" sz="12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oppins"/>
              <a:ea typeface="Poppins"/>
              <a:cs typeface="Poppins"/>
              <a:sym typeface="Poppins"/>
            </a:endParaRPr>
          </a:p>
        </p:txBody>
      </p:sp>
      <p:pic>
        <p:nvPicPr>
          <p:cNvPr id="265" name="Google Shape;265;p39"/>
          <p:cNvPicPr preferRelativeResize="0"/>
          <p:nvPr/>
        </p:nvPicPr>
        <p:blipFill rotWithShape="1">
          <a:blip r:embed="rId3">
            <a:alphaModFix/>
          </a:blip>
          <a:srcRect b="0" l="3840" r="-3840" t="0"/>
          <a:stretch/>
        </p:blipFill>
        <p:spPr>
          <a:xfrm>
            <a:off x="4759700" y="1621900"/>
            <a:ext cx="4147098" cy="25659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1F2020"/>
              </a:buClr>
              <a:buSzPts val="2800"/>
              <a:buFont typeface="Poppins"/>
              <a:buNone/>
            </a:pPr>
            <a:r>
              <a:rPr b="1" lang="en-US" sz="2300"/>
              <a:t>Gradient Boosting Triage</a:t>
            </a:r>
            <a:endParaRPr b="1" sz="2800">
              <a:solidFill>
                <a:srgbClr val="1F2020"/>
              </a:solidFill>
              <a:latin typeface="Poppins"/>
              <a:ea typeface="Poppins"/>
              <a:cs typeface="Poppins"/>
              <a:sym typeface="Poppins"/>
            </a:endParaRPr>
          </a:p>
        </p:txBody>
      </p:sp>
      <p:sp>
        <p:nvSpPr>
          <p:cNvPr id="271" name="Google Shape;271;p40"/>
          <p:cNvSpPr/>
          <p:nvPr/>
        </p:nvSpPr>
        <p:spPr>
          <a:xfrm>
            <a:off x="311925" y="1464600"/>
            <a:ext cx="4517100" cy="2880600"/>
          </a:xfrm>
          <a:prstGeom prst="rect">
            <a:avLst/>
          </a:prstGeom>
          <a:noFill/>
          <a:ln>
            <a:noFill/>
          </a:ln>
        </p:spPr>
        <p:txBody>
          <a:bodyPr anchorCtr="0" anchor="t" bIns="45000" lIns="90000" spcFirstLastPara="1" rIns="90000" wrap="square" tIns="45000">
            <a:noAutofit/>
          </a:bodyPr>
          <a:lstStyle/>
          <a:p>
            <a:pPr indent="-304800" lvl="0" marL="457200" marR="0" rtl="0" algn="l">
              <a:lnSpc>
                <a:spcPct val="100000"/>
              </a:lnSpc>
              <a:spcBef>
                <a:spcPts val="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Optimized Threshold: Tuned precisely to 0.364 to heavily favor Recall, catching the maximum number of true bugs.</a:t>
            </a:r>
            <a:endParaRPr b="0" i="0" sz="12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True Positives (721): The model correctly captured the vast majority of real, weaponizable vulnerabilities.</a:t>
            </a:r>
            <a:endParaRPr b="0" i="0" sz="12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False Positives (128): Only a tiny fraction of safe code was mistakenly flagged—drastically outperforming the static baseline.</a:t>
            </a:r>
            <a:endParaRPr b="0" i="0" sz="12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oppins"/>
              <a:ea typeface="Poppins"/>
              <a:cs typeface="Poppins"/>
              <a:sym typeface="Poppins"/>
            </a:endParaRPr>
          </a:p>
          <a:p>
            <a:pPr indent="-304800" lvl="0" marL="457200" marR="0" rtl="0" algn="l">
              <a:lnSpc>
                <a:spcPct val="100000"/>
              </a:lnSpc>
              <a:spcBef>
                <a:spcPts val="0"/>
              </a:spcBef>
              <a:spcAft>
                <a:spcPts val="0"/>
              </a:spcAft>
              <a:buClr>
                <a:srgbClr val="000000"/>
              </a:buClr>
              <a:buSzPts val="1200"/>
              <a:buFont typeface="Poppins"/>
              <a:buChar char="●"/>
            </a:pPr>
            <a:r>
              <a:rPr b="0" i="0" lang="en-US" sz="1200" u="none" cap="none" strike="noStrike">
                <a:solidFill>
                  <a:srgbClr val="000000"/>
                </a:solidFill>
                <a:latin typeface="Poppins"/>
                <a:ea typeface="Poppins"/>
                <a:cs typeface="Poppins"/>
                <a:sym typeface="Poppins"/>
              </a:rPr>
              <a:t>Why GBM Won: The sequential error-correction of the ensemble proved highly effective at mapping our 13-dimensional vulnerability feature vectors.</a:t>
            </a:r>
            <a:endParaRPr b="0" i="0" sz="1200" u="none" cap="none" strike="noStrike">
              <a:solidFill>
                <a:srgbClr val="000000"/>
              </a:solidFill>
              <a:latin typeface="Poppins"/>
              <a:ea typeface="Poppins"/>
              <a:cs typeface="Poppins"/>
              <a:sym typeface="Poppins"/>
            </a:endParaRPr>
          </a:p>
        </p:txBody>
      </p:sp>
      <p:pic>
        <p:nvPicPr>
          <p:cNvPr id="272" name="Google Shape;272;p40"/>
          <p:cNvPicPr preferRelativeResize="0"/>
          <p:nvPr/>
        </p:nvPicPr>
        <p:blipFill rotWithShape="1">
          <a:blip r:embed="rId3">
            <a:alphaModFix/>
          </a:blip>
          <a:srcRect b="5891" l="0" r="0" t="0"/>
          <a:stretch/>
        </p:blipFill>
        <p:spPr>
          <a:xfrm>
            <a:off x="4692400" y="935700"/>
            <a:ext cx="4153525" cy="3734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ph idx="4294967295" type="title"/>
          </p:nvPr>
        </p:nvSpPr>
        <p:spPr>
          <a:xfrm>
            <a:off x="1973160" y="1856160"/>
            <a:ext cx="6457200" cy="1024200"/>
          </a:xfrm>
          <a:prstGeom prst="rect">
            <a:avLst/>
          </a:prstGeom>
          <a:solidFill>
            <a:schemeClr val="dk1"/>
          </a:solidFill>
          <a:ln>
            <a:noFill/>
          </a:ln>
        </p:spPr>
        <p:txBody>
          <a:bodyPr anchorCtr="0" anchor="ctr" bIns="91425" lIns="182875" spcFirstLastPara="1" rIns="182875" wrap="square" tIns="91425">
            <a:noAutofit/>
          </a:bodyPr>
          <a:lstStyle/>
          <a:p>
            <a:pPr indent="0" lvl="0" marL="0" marR="0" rtl="0" algn="l">
              <a:lnSpc>
                <a:spcPct val="115000"/>
              </a:lnSpc>
              <a:spcBef>
                <a:spcPts val="0"/>
              </a:spcBef>
              <a:spcAft>
                <a:spcPts val="0"/>
              </a:spcAft>
              <a:buClr>
                <a:schemeClr val="lt1"/>
              </a:buClr>
              <a:buSzPts val="4900"/>
              <a:buFont typeface="Figtree Black"/>
              <a:buNone/>
            </a:pPr>
            <a:r>
              <a:rPr b="0" i="0" lang="en-US" sz="4900" u="none" cap="none" strike="noStrike">
                <a:solidFill>
                  <a:schemeClr val="lt1"/>
                </a:solidFill>
                <a:latin typeface="Figtree Black"/>
                <a:ea typeface="Figtree Black"/>
                <a:cs typeface="Figtree Black"/>
                <a:sym typeface="Figtree Black"/>
              </a:rPr>
              <a:t>Part </a:t>
            </a:r>
            <a:r>
              <a:rPr lang="en-US" sz="4900">
                <a:solidFill>
                  <a:schemeClr val="lt1"/>
                </a:solidFill>
                <a:latin typeface="Figtree Black"/>
                <a:ea typeface="Figtree Black"/>
                <a:cs typeface="Figtree Black"/>
                <a:sym typeface="Figtree Black"/>
              </a:rPr>
              <a:t>7</a:t>
            </a:r>
            <a:r>
              <a:rPr b="0" i="0" lang="en-US" sz="4900" u="none" cap="none" strike="noStrike">
                <a:solidFill>
                  <a:schemeClr val="lt1"/>
                </a:solidFill>
                <a:latin typeface="Figtree Black"/>
                <a:ea typeface="Figtree Black"/>
                <a:cs typeface="Figtree Black"/>
                <a:sym typeface="Figtree Black"/>
              </a:rPr>
              <a:t>: </a:t>
            </a:r>
            <a:r>
              <a:rPr lang="en-US" sz="4900">
                <a:solidFill>
                  <a:schemeClr val="lt1"/>
                </a:solidFill>
                <a:latin typeface="Figtree Black"/>
                <a:ea typeface="Figtree Black"/>
                <a:cs typeface="Figtree Black"/>
                <a:sym typeface="Figtree Black"/>
              </a:rPr>
              <a:t>Conclusion</a:t>
            </a:r>
            <a:endParaRPr b="0" i="0" sz="4900" u="none" cap="none" strike="noStrike">
              <a:solidFill>
                <a:srgbClr val="000000"/>
              </a:solidFill>
              <a:latin typeface="Arial"/>
              <a:ea typeface="Arial"/>
              <a:cs typeface="Arial"/>
              <a:sym typeface="Arial"/>
            </a:endParaRPr>
          </a:p>
        </p:txBody>
      </p:sp>
      <p:sp>
        <p:nvSpPr>
          <p:cNvPr id="278" name="Google Shape;278;p41"/>
          <p:cNvSpPr txBox="1"/>
          <p:nvPr>
            <p:ph idx="4294967295" type="subTitle"/>
          </p:nvPr>
        </p:nvSpPr>
        <p:spPr>
          <a:xfrm>
            <a:off x="2603160" y="3506400"/>
            <a:ext cx="5827200" cy="40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Hanken Grotesk"/>
              <a:ea typeface="Hanken Grotesk"/>
              <a:cs typeface="Hanken Grotesk"/>
              <a:sym typeface="Hanken Grotes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type="title"/>
          </p:nvPr>
        </p:nvSpPr>
        <p:spPr>
          <a:xfrm>
            <a:off x="2245188" y="307785"/>
            <a:ext cx="46536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3200"/>
              <a:buFont typeface="Poppins"/>
              <a:buNone/>
            </a:pPr>
            <a:r>
              <a:rPr b="1" lang="en-US" sz="3200">
                <a:solidFill>
                  <a:srgbClr val="1F2020"/>
                </a:solidFill>
                <a:latin typeface="Poppins"/>
                <a:ea typeface="Poppins"/>
                <a:cs typeface="Poppins"/>
                <a:sym typeface="Poppins"/>
              </a:rPr>
              <a:t>Conclusion</a:t>
            </a:r>
            <a:endParaRPr b="0" sz="3200" strike="noStrike">
              <a:solidFill>
                <a:srgbClr val="000000"/>
              </a:solidFill>
              <a:latin typeface="Arial"/>
              <a:ea typeface="Arial"/>
              <a:cs typeface="Arial"/>
              <a:sym typeface="Arial"/>
            </a:endParaRPr>
          </a:p>
        </p:txBody>
      </p:sp>
      <p:sp>
        <p:nvSpPr>
          <p:cNvPr id="284" name="Google Shape;284;p42"/>
          <p:cNvSpPr/>
          <p:nvPr/>
        </p:nvSpPr>
        <p:spPr>
          <a:xfrm>
            <a:off x="515560" y="880180"/>
            <a:ext cx="7772100" cy="3291000"/>
          </a:xfrm>
          <a:prstGeom prst="rect">
            <a:avLst/>
          </a:prstGeom>
          <a:noFill/>
          <a:ln>
            <a:noFill/>
          </a:ln>
        </p:spPr>
        <p:txBody>
          <a:bodyPr anchorCtr="0" anchor="t" bIns="45000" lIns="90000" spcFirstLastPara="1" rIns="90000" wrap="square" tIns="45000">
            <a:noAutofit/>
          </a:bodyPr>
          <a:lstStyle/>
          <a:p>
            <a:pPr indent="0" lvl="0" marL="158760" marR="0" rtl="0" algn="l">
              <a:lnSpc>
                <a:spcPct val="100000"/>
              </a:lnSpc>
              <a:spcBef>
                <a:spcPts val="1199"/>
              </a:spcBef>
              <a:spcAft>
                <a:spcPts val="0"/>
              </a:spcAft>
              <a:buClr>
                <a:srgbClr val="000000"/>
              </a:buClr>
              <a:buSzPts val="2000"/>
              <a:buFont typeface="Arial"/>
              <a:buNone/>
            </a:pPr>
            <a:r>
              <a:rPr b="0" i="0" lang="en-US" sz="1200" u="none" cap="none" strike="noStrike">
                <a:solidFill>
                  <a:srgbClr val="000000"/>
                </a:solidFill>
                <a:latin typeface="Poppins"/>
                <a:ea typeface="Poppins"/>
                <a:cs typeface="Poppins"/>
                <a:sym typeface="Poppins"/>
              </a:rPr>
              <a:t>This work successfully designed and deployed an autonomous, end-to-end DevSecOps pipeline capable of intelligently triaging static analysis alerts and self-healing vulnerabilities without human intervention.</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199"/>
              </a:spcBef>
              <a:spcAft>
                <a:spcPts val="0"/>
              </a:spcAft>
              <a:buClr>
                <a:srgbClr val="000000"/>
              </a:buClr>
              <a:buSzPts val="2000"/>
              <a:buFont typeface="Arial"/>
              <a:buNone/>
            </a:pPr>
            <a:r>
              <a:rPr b="0" i="0" lang="en-US" sz="1200" u="none" cap="none" strike="noStrike">
                <a:solidFill>
                  <a:srgbClr val="000000"/>
                </a:solidFill>
                <a:latin typeface="Poppins"/>
                <a:ea typeface="Poppins"/>
                <a:cs typeface="Poppins"/>
                <a:sym typeface="Poppins"/>
              </a:rPr>
              <a:t>Final Outcomes Achieved:</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199"/>
              </a:spcBef>
              <a:spcAft>
                <a:spcPts val="0"/>
              </a:spcAft>
              <a:buClr>
                <a:srgbClr val="000000"/>
              </a:buClr>
              <a:buSzPts val="1200"/>
              <a:buFont typeface="Arial"/>
              <a:buNone/>
            </a:pPr>
            <a:r>
              <a:rPr b="1" i="0" lang="en-US" sz="1200" u="none" cap="none" strike="noStrike">
                <a:solidFill>
                  <a:srgbClr val="000000"/>
                </a:solidFill>
                <a:latin typeface="Poppins"/>
                <a:ea typeface="Poppins"/>
                <a:cs typeface="Poppins"/>
                <a:sym typeface="Poppins"/>
              </a:rPr>
              <a:t>Comprehensive SAST Integration:</a:t>
            </a:r>
            <a:r>
              <a:rPr b="0" i="0" lang="en-US" sz="1200" u="none" cap="none" strike="noStrike">
                <a:solidFill>
                  <a:srgbClr val="000000"/>
                </a:solidFill>
                <a:latin typeface="Poppins"/>
                <a:ea typeface="Poppins"/>
                <a:cs typeface="Poppins"/>
                <a:sym typeface="Poppins"/>
              </a:rPr>
              <a:t> Automated deep static application security testing using CodeQL as the foundational alert generator.</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199"/>
              </a:spcBef>
              <a:spcAft>
                <a:spcPts val="0"/>
              </a:spcAft>
              <a:buClr>
                <a:srgbClr val="000000"/>
              </a:buClr>
              <a:buSzPts val="1200"/>
              <a:buFont typeface="Arial"/>
              <a:buNone/>
            </a:pPr>
            <a:r>
              <a:rPr b="1" i="0" lang="en-US" sz="1200" u="none" cap="none" strike="noStrike">
                <a:solidFill>
                  <a:srgbClr val="000000"/>
                </a:solidFill>
                <a:latin typeface="Poppins"/>
                <a:ea typeface="Poppins"/>
                <a:cs typeface="Poppins"/>
                <a:sym typeface="Poppins"/>
              </a:rPr>
              <a:t>High-Fidelity Machine Learning Triage:</a:t>
            </a:r>
            <a:r>
              <a:rPr b="0" i="0" lang="en-US" sz="1200" u="none" cap="none" strike="noStrike">
                <a:solidFill>
                  <a:srgbClr val="000000"/>
                </a:solidFill>
                <a:latin typeface="Poppins"/>
                <a:ea typeface="Poppins"/>
                <a:cs typeface="Poppins"/>
                <a:sym typeface="Poppins"/>
              </a:rPr>
              <a:t> Upgraded from basic classification to an optimized Gradient Boosting Machine (GBM) utilizing 13-dimensional weighted vulnerability vectors.</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199"/>
              </a:spcBef>
              <a:spcAft>
                <a:spcPts val="0"/>
              </a:spcAft>
              <a:buClr>
                <a:srgbClr val="000000"/>
              </a:buClr>
              <a:buSzPts val="1200"/>
              <a:buFont typeface="Arial"/>
              <a:buNone/>
            </a:pPr>
            <a:r>
              <a:rPr b="1" i="0" lang="en-US" sz="1200" u="none" cap="none" strike="noStrike">
                <a:solidFill>
                  <a:srgbClr val="000000"/>
                </a:solidFill>
                <a:latin typeface="Poppins"/>
                <a:ea typeface="Poppins"/>
                <a:cs typeface="Poppins"/>
                <a:sym typeface="Poppins"/>
              </a:rPr>
              <a:t>Elimination of Alert Fatigue:</a:t>
            </a:r>
            <a:r>
              <a:rPr b="0" i="0" lang="en-US" sz="1200" u="none" cap="none" strike="noStrike">
                <a:solidFill>
                  <a:srgbClr val="000000"/>
                </a:solidFill>
                <a:latin typeface="Poppins"/>
                <a:ea typeface="Poppins"/>
                <a:cs typeface="Poppins"/>
                <a:sym typeface="Poppins"/>
              </a:rPr>
              <a:t> The ML model mathematically suppressed static analysis noise, drastically improving triage precision to ~85% while catching 93% of real vulnerabilities.</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199"/>
              </a:spcBef>
              <a:spcAft>
                <a:spcPts val="0"/>
              </a:spcAft>
              <a:buClr>
                <a:srgbClr val="000000"/>
              </a:buClr>
              <a:buSzPts val="1200"/>
              <a:buFont typeface="Arial"/>
              <a:buNone/>
            </a:pPr>
            <a:r>
              <a:rPr b="1" i="0" lang="en-US" sz="1200" u="none" cap="none" strike="noStrike">
                <a:solidFill>
                  <a:srgbClr val="000000"/>
                </a:solidFill>
                <a:latin typeface="Poppins"/>
                <a:ea typeface="Poppins"/>
                <a:cs typeface="Poppins"/>
                <a:sym typeface="Poppins"/>
              </a:rPr>
              <a:t>Autonomous LLM Remediation:</a:t>
            </a:r>
            <a:r>
              <a:rPr b="0" i="0" lang="en-US" sz="1200" u="none" cap="none" strike="noStrike">
                <a:solidFill>
                  <a:srgbClr val="000000"/>
                </a:solidFill>
                <a:latin typeface="Poppins"/>
                <a:ea typeface="Poppins"/>
                <a:cs typeface="Poppins"/>
                <a:sym typeface="Poppins"/>
              </a:rPr>
              <a:t> Engineered a sophisticated self-healing agent (Llama-3.3-70b) that dynamically scales between localized "Snippet-Mode" and "Full-File Escalation" to patch complex bugs.</a:t>
            </a:r>
            <a:endParaRPr b="0" i="0" sz="1200" u="none" cap="none" strike="noStrike">
              <a:solidFill>
                <a:srgbClr val="000000"/>
              </a:solidFill>
              <a:latin typeface="Poppins"/>
              <a:ea typeface="Poppins"/>
              <a:cs typeface="Poppins"/>
              <a:sym typeface="Poppins"/>
            </a:endParaRPr>
          </a:p>
          <a:p>
            <a:pPr indent="0" lvl="0" marL="0" marR="0" rtl="0" algn="l">
              <a:lnSpc>
                <a:spcPct val="100000"/>
              </a:lnSpc>
              <a:spcBef>
                <a:spcPts val="1199"/>
              </a:spcBef>
              <a:spcAft>
                <a:spcPts val="0"/>
              </a:spcAft>
              <a:buClr>
                <a:srgbClr val="000000"/>
              </a:buClr>
              <a:buSzPts val="1200"/>
              <a:buFont typeface="Arial"/>
              <a:buNone/>
            </a:pPr>
            <a:r>
              <a:rPr b="1" i="0" lang="en-US" sz="1200" u="none" cap="none" strike="noStrike">
                <a:solidFill>
                  <a:srgbClr val="000000"/>
                </a:solidFill>
                <a:latin typeface="Poppins"/>
                <a:ea typeface="Poppins"/>
                <a:cs typeface="Poppins"/>
                <a:sym typeface="Poppins"/>
              </a:rPr>
              <a:t>Zero-Trust Validation Loop:</a:t>
            </a:r>
            <a:r>
              <a:rPr b="0" i="0" lang="en-US" sz="1200" u="none" cap="none" strike="noStrike">
                <a:solidFill>
                  <a:srgbClr val="000000"/>
                </a:solidFill>
                <a:latin typeface="Poppins"/>
                <a:ea typeface="Poppins"/>
                <a:cs typeface="Poppins"/>
                <a:sym typeface="Poppins"/>
              </a:rPr>
              <a:t> Guaranteed strict codebase stability by forcing all LLM-generated patches to perfectly pass a Java compiler check and a CodeQL security re-scan before being accepted.</a:t>
            </a:r>
            <a:endParaRPr b="0" i="0" sz="1200" u="none" cap="none" strike="noStrike">
              <a:solidFill>
                <a:srgbClr val="000000"/>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2751840" y="394200"/>
            <a:ext cx="46536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1F2020"/>
              </a:buClr>
              <a:buSzPts val="3200"/>
              <a:buFont typeface="Poppins"/>
              <a:buNone/>
            </a:pPr>
            <a:r>
              <a:rPr b="1" lang="en-US" sz="3200" strike="noStrike">
                <a:solidFill>
                  <a:srgbClr val="1F2020"/>
                </a:solidFill>
                <a:latin typeface="Poppins"/>
                <a:ea typeface="Poppins"/>
                <a:cs typeface="Poppins"/>
                <a:sym typeface="Poppins"/>
              </a:rPr>
              <a:t>Future Scope</a:t>
            </a:r>
            <a:br>
              <a:rPr lang="en-US" sz="3200"/>
            </a:br>
            <a:endParaRPr b="0" sz="3200" strike="noStrike">
              <a:solidFill>
                <a:srgbClr val="000000"/>
              </a:solidFill>
              <a:latin typeface="Arial"/>
              <a:ea typeface="Arial"/>
              <a:cs typeface="Arial"/>
              <a:sym typeface="Arial"/>
            </a:endParaRPr>
          </a:p>
        </p:txBody>
      </p:sp>
      <p:sp>
        <p:nvSpPr>
          <p:cNvPr id="290" name="Google Shape;290;p43"/>
          <p:cNvSpPr/>
          <p:nvPr/>
        </p:nvSpPr>
        <p:spPr>
          <a:xfrm>
            <a:off x="487800" y="1352700"/>
            <a:ext cx="7853400" cy="3568200"/>
          </a:xfrm>
          <a:prstGeom prst="rect">
            <a:avLst/>
          </a:prstGeom>
          <a:noFill/>
          <a:ln>
            <a:noFill/>
          </a:ln>
        </p:spPr>
        <p:txBody>
          <a:bodyPr anchorCtr="0" anchor="t" bIns="45000" lIns="90000" spcFirstLastPara="1" rIns="90000" wrap="square" tIns="45000">
            <a:noAutofit/>
          </a:bodyPr>
          <a:lstStyle/>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Future Enhancements &amp; Pipeline Evolution</a:t>
            </a:r>
            <a:endParaRPr b="1" i="0" sz="11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DAST Integration:</a:t>
            </a:r>
            <a:r>
              <a:rPr b="0" i="0" lang="en-US" sz="1100" u="none" cap="none" strike="noStrike">
                <a:solidFill>
                  <a:srgbClr val="000000"/>
                </a:solidFill>
                <a:latin typeface="Arial"/>
                <a:ea typeface="Arial"/>
                <a:cs typeface="Arial"/>
                <a:sym typeface="Arial"/>
              </a:rPr>
              <a:t> Integrate OWASP ZAP to test running apps in real-time, catching runtime vulnerabilities and authentication flaws missed by SAST.</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Multi-Language Expansion:</a:t>
            </a:r>
            <a:r>
              <a:rPr b="0" i="0" lang="en-US" sz="1100" u="none" cap="none" strike="noStrike">
                <a:solidFill>
                  <a:srgbClr val="000000"/>
                </a:solidFill>
                <a:latin typeface="Arial"/>
                <a:ea typeface="Arial"/>
                <a:cs typeface="Arial"/>
                <a:sym typeface="Arial"/>
              </a:rPr>
              <a:t> Extend beyond Java to support Python, JavaScript, and Go, creating a universal security layer for polyglot microservices.</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Reinforcement Learning (RLCF):</a:t>
            </a:r>
            <a:r>
              <a:rPr b="0" i="0" lang="en-US" sz="1100" u="none" cap="none" strike="noStrike">
                <a:solidFill>
                  <a:srgbClr val="000000"/>
                </a:solidFill>
                <a:latin typeface="Arial"/>
                <a:ea typeface="Arial"/>
                <a:cs typeface="Arial"/>
                <a:sym typeface="Arial"/>
              </a:rPr>
              <a:t> Implement a feedback loop to fine-tune the LLM (Llama-3) based on compile success and CodeQL re-scans, improving zero-shot patching accuracy.</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Autonomous Test Generation:</a:t>
            </a:r>
            <a:r>
              <a:rPr b="0" i="0" lang="en-US" sz="1100" u="none" cap="none" strike="noStrike">
                <a:solidFill>
                  <a:srgbClr val="000000"/>
                </a:solidFill>
                <a:latin typeface="Arial"/>
                <a:ea typeface="Arial"/>
                <a:cs typeface="Arial"/>
                <a:sym typeface="Arial"/>
              </a:rPr>
              <a:t> Upgrade the LLM to automatically generate Unit test cases alongside security patches to prevent future regressions.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rgbClr val="000000"/>
              </a:solidFill>
              <a:latin typeface="Poppins"/>
              <a:ea typeface="Poppins"/>
              <a:cs typeface="Poppins"/>
              <a:sym typeface="Poppi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ph type="title"/>
          </p:nvPr>
        </p:nvSpPr>
        <p:spPr>
          <a:xfrm>
            <a:off x="3209040" y="371160"/>
            <a:ext cx="46536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2800"/>
              <a:buFont typeface="Figtree Black"/>
              <a:buNone/>
            </a:pPr>
            <a:r>
              <a:rPr b="0" lang="en-US" sz="2800" strike="noStrike">
                <a:solidFill>
                  <a:schemeClr val="dk1"/>
                </a:solidFill>
                <a:latin typeface="Figtree Black"/>
                <a:ea typeface="Figtree Black"/>
                <a:cs typeface="Figtree Black"/>
                <a:sym typeface="Figtree Black"/>
              </a:rPr>
              <a:t>References</a:t>
            </a:r>
            <a:endParaRPr b="0" sz="2800" strike="noStrike">
              <a:solidFill>
                <a:srgbClr val="000000"/>
              </a:solidFill>
              <a:latin typeface="Arial"/>
              <a:ea typeface="Arial"/>
              <a:cs typeface="Arial"/>
              <a:sym typeface="Arial"/>
            </a:endParaRPr>
          </a:p>
        </p:txBody>
      </p:sp>
      <p:sp>
        <p:nvSpPr>
          <p:cNvPr id="296" name="Google Shape;296;p44"/>
          <p:cNvSpPr/>
          <p:nvPr/>
        </p:nvSpPr>
        <p:spPr>
          <a:xfrm>
            <a:off x="294480" y="1156680"/>
            <a:ext cx="8554200" cy="3748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 Core Foundations</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[1] S. Habib and M. Pradel, </a:t>
            </a:r>
            <a:r>
              <a:rPr b="0" i="1" lang="en-US" sz="1100" u="none" cap="none" strike="noStrike">
                <a:solidFill>
                  <a:srgbClr val="000000"/>
                </a:solidFill>
                <a:latin typeface="Arial"/>
                <a:ea typeface="Arial"/>
                <a:cs typeface="Arial"/>
                <a:sym typeface="Arial"/>
              </a:rPr>
              <a:t>“Static Code Analysis Alarms Filtering Reloaded: A New Real-World Dataset and its ML-Based Utilization,”</a:t>
            </a:r>
            <a:r>
              <a:rPr b="0" i="0" lang="en-US" sz="1100" u="none" cap="none" strike="noStrike">
                <a:solidFill>
                  <a:srgbClr val="000000"/>
                </a:solidFill>
                <a:latin typeface="Arial"/>
                <a:ea typeface="Arial"/>
                <a:cs typeface="Arial"/>
                <a:sym typeface="Arial"/>
              </a:rPr>
              <a:t> Empirical Software Engineering, 2022.</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[2] A. Shrestha et al., </a:t>
            </a:r>
            <a:r>
              <a:rPr b="0" i="1" lang="en-US" sz="1100" u="none" cap="none" strike="noStrike">
                <a:solidFill>
                  <a:srgbClr val="000000"/>
                </a:solidFill>
                <a:latin typeface="Arial"/>
                <a:ea typeface="Arial"/>
                <a:cs typeface="Arial"/>
                <a:sym typeface="Arial"/>
              </a:rPr>
              <a:t>“Agentic AI for Autonomous Software Supply Chain Security,”</a:t>
            </a:r>
            <a:r>
              <a:rPr b="0" i="0" lang="en-US" sz="1100" u="none" cap="none" strike="noStrike">
                <a:solidFill>
                  <a:srgbClr val="000000"/>
                </a:solidFill>
                <a:latin typeface="Arial"/>
                <a:ea typeface="Arial"/>
                <a:cs typeface="Arial"/>
                <a:sym typeface="Arial"/>
              </a:rPr>
              <a:t> arXiv, 2025.</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[3] OWASP Foundation, </a:t>
            </a:r>
            <a:r>
              <a:rPr b="0" i="1" lang="en-US" sz="1100" u="none" cap="none" strike="noStrike">
                <a:solidFill>
                  <a:srgbClr val="000000"/>
                </a:solidFill>
                <a:latin typeface="Arial"/>
                <a:ea typeface="Arial"/>
                <a:cs typeface="Arial"/>
                <a:sym typeface="Arial"/>
              </a:rPr>
              <a:t>“OWASP Benchmark Project,”</a:t>
            </a:r>
            <a:r>
              <a:rPr b="0" i="0" lang="en-US" sz="1100" u="none" cap="none" strike="noStrike">
                <a:solidFill>
                  <a:srgbClr val="000000"/>
                </a:solidFill>
                <a:latin typeface="Arial"/>
                <a:ea typeface="Arial"/>
                <a:cs typeface="Arial"/>
                <a:sym typeface="Arial"/>
              </a:rPr>
              <a:t> 2023.</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[4] L. Breiman, </a:t>
            </a:r>
            <a:r>
              <a:rPr b="0" i="1" lang="en-US" sz="1100" u="none" cap="none" strike="noStrike">
                <a:solidFill>
                  <a:srgbClr val="000000"/>
                </a:solidFill>
                <a:latin typeface="Arial"/>
                <a:ea typeface="Arial"/>
                <a:cs typeface="Arial"/>
                <a:sym typeface="Arial"/>
              </a:rPr>
              <a:t>“Random Forests,”</a:t>
            </a:r>
            <a:r>
              <a:rPr b="0" i="0" lang="en-US" sz="1100" u="none" cap="none" strike="noStrike">
                <a:solidFill>
                  <a:srgbClr val="000000"/>
                </a:solidFill>
                <a:latin typeface="Arial"/>
                <a:ea typeface="Arial"/>
                <a:cs typeface="Arial"/>
                <a:sym typeface="Arial"/>
              </a:rPr>
              <a:t> Machine Learning, 2001.</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[5] GitHub Security Lab, </a:t>
            </a:r>
            <a:r>
              <a:rPr b="0" i="1" lang="en-US" sz="1100" u="none" cap="none" strike="noStrike">
                <a:solidFill>
                  <a:srgbClr val="000000"/>
                </a:solidFill>
                <a:latin typeface="Arial"/>
                <a:ea typeface="Arial"/>
                <a:cs typeface="Arial"/>
                <a:sym typeface="Arial"/>
              </a:rPr>
              <a:t>“CodeQL: Static Analysis for Security and Quality,”</a:t>
            </a:r>
            <a:r>
              <a:rPr b="0" i="0" lang="en-US" sz="1100" u="none" cap="none" strike="noStrike">
                <a:solidFill>
                  <a:srgbClr val="000000"/>
                </a:solidFill>
                <a:latin typeface="Arial"/>
                <a:ea typeface="Arial"/>
                <a:cs typeface="Arial"/>
                <a:sym typeface="Arial"/>
              </a:rPr>
              <a:t> 2023.</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[6] M. Allamanis et al., </a:t>
            </a:r>
            <a:r>
              <a:rPr b="0" i="1" lang="en-US" sz="1100" u="none" cap="none" strike="noStrike">
                <a:solidFill>
                  <a:srgbClr val="000000"/>
                </a:solidFill>
                <a:latin typeface="Arial"/>
                <a:ea typeface="Arial"/>
                <a:cs typeface="Arial"/>
                <a:sym typeface="Arial"/>
              </a:rPr>
              <a:t>“Machine Learning for Big Code and Naturalness,”</a:t>
            </a:r>
            <a:r>
              <a:rPr b="0" i="0" lang="en-US" sz="1100" u="none" cap="none" strike="noStrike">
                <a:solidFill>
                  <a:srgbClr val="000000"/>
                </a:solidFill>
                <a:latin typeface="Arial"/>
                <a:ea typeface="Arial"/>
                <a:cs typeface="Arial"/>
                <a:sym typeface="Arial"/>
              </a:rPr>
              <a:t> ACM Computing Surveys, 2018.</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 Recent Advances in AI + Vulnerability Detection</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[7] M. Iranmanesh et al., </a:t>
            </a:r>
            <a:r>
              <a:rPr b="0" i="1" lang="en-US" sz="1100" u="none" cap="none" strike="noStrike">
                <a:solidFill>
                  <a:srgbClr val="000000"/>
                </a:solidFill>
                <a:latin typeface="Arial"/>
                <a:ea typeface="Arial"/>
                <a:cs typeface="Arial"/>
                <a:sym typeface="Arial"/>
              </a:rPr>
              <a:t>“ZeroFalse: Improving Precision in Static Analysis with LLMs,”</a:t>
            </a:r>
            <a:r>
              <a:rPr b="0" i="0" lang="en-US" sz="1100" u="none" cap="none" strike="noStrike">
                <a:solidFill>
                  <a:srgbClr val="000000"/>
                </a:solidFill>
                <a:latin typeface="Arial"/>
                <a:ea typeface="Arial"/>
                <a:cs typeface="Arial"/>
                <a:sym typeface="Arial"/>
              </a:rPr>
              <a:t> arXiv, 2025.</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[8] T. A. Syed et al., </a:t>
            </a:r>
            <a:r>
              <a:rPr b="0" i="1" lang="en-US" sz="1100" u="none" cap="none" strike="noStrike">
                <a:solidFill>
                  <a:srgbClr val="000000"/>
                </a:solidFill>
                <a:latin typeface="Arial"/>
                <a:ea typeface="Arial"/>
                <a:cs typeface="Arial"/>
                <a:sym typeface="Arial"/>
              </a:rPr>
              <a:t>“Agentic AI for Autonomous Defense in Software Supply Chain Security,”</a:t>
            </a:r>
            <a:r>
              <a:rPr b="0" i="0" lang="en-US" sz="1100" u="none" cap="none" strike="noStrike">
                <a:solidFill>
                  <a:srgbClr val="000000"/>
                </a:solidFill>
                <a:latin typeface="Arial"/>
                <a:ea typeface="Arial"/>
                <a:cs typeface="Arial"/>
                <a:sym typeface="Arial"/>
              </a:rPr>
              <a:t> arXiv, 2025.</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[9] </a:t>
            </a:r>
            <a:r>
              <a:rPr b="0" i="1" lang="en-US" sz="1100" u="none" cap="none" strike="noStrike">
                <a:solidFill>
                  <a:srgbClr val="000000"/>
                </a:solidFill>
                <a:latin typeface="Arial"/>
                <a:ea typeface="Arial"/>
                <a:cs typeface="Arial"/>
                <a:sym typeface="Arial"/>
              </a:rPr>
              <a:t>“Automated Vulnerability Discovery in FinTech Applications Using AI-Enhanced Static and Dynamic Code Analysis,”</a:t>
            </a:r>
            <a:r>
              <a:rPr b="0" i="0" lang="en-US" sz="1100" u="none" cap="none" strike="noStrike">
                <a:solidFill>
                  <a:srgbClr val="000000"/>
                </a:solidFill>
                <a:latin typeface="Arial"/>
                <a:ea typeface="Arial"/>
                <a:cs typeface="Arial"/>
                <a:sym typeface="Arial"/>
              </a:rPr>
              <a:t> SSRN, 2025.</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 Agentic AI + Autonomous Security Systems</a:t>
            </a:r>
            <a:endParaRPr b="1" i="0" sz="13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[10] T. Sooksomstarn et al., </a:t>
            </a:r>
            <a:r>
              <a:rPr b="0" i="1" lang="en-US" sz="1100" u="none" cap="none" strike="noStrike">
                <a:solidFill>
                  <a:srgbClr val="000000"/>
                </a:solidFill>
                <a:latin typeface="Arial"/>
                <a:ea typeface="Arial"/>
                <a:cs typeface="Arial"/>
                <a:sym typeface="Arial"/>
              </a:rPr>
              <a:t>“Agentic Hyper-Intelligence for Cyber Threat Detection,”</a:t>
            </a:r>
            <a:r>
              <a:rPr b="0" i="0" lang="en-US" sz="1100" u="none" cap="none" strike="noStrike">
                <a:solidFill>
                  <a:srgbClr val="000000"/>
                </a:solidFill>
                <a:latin typeface="Arial"/>
                <a:ea typeface="Arial"/>
                <a:cs typeface="Arial"/>
                <a:sym typeface="Arial"/>
              </a:rPr>
              <a:t> IEEE CyberSciTech, 2025.</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[11] W. Charoenwet et al., </a:t>
            </a:r>
            <a:r>
              <a:rPr b="0" i="1" lang="en-US" sz="1100" u="none" cap="none" strike="noStrike">
                <a:solidFill>
                  <a:srgbClr val="000000"/>
                </a:solidFill>
                <a:latin typeface="Arial"/>
                <a:ea typeface="Arial"/>
                <a:cs typeface="Arial"/>
                <a:sym typeface="Arial"/>
              </a:rPr>
              <a:t>“AgenticSCR: Autonomous Secure Code Review for Immature Vulnerabilities Detection,”</a:t>
            </a:r>
            <a:r>
              <a:rPr b="0" i="0" lang="en-US" sz="1100" u="none" cap="none" strike="noStrike">
                <a:solidFill>
                  <a:srgbClr val="000000"/>
                </a:solidFill>
                <a:latin typeface="Arial"/>
                <a:ea typeface="Arial"/>
                <a:cs typeface="Arial"/>
                <a:sym typeface="Arial"/>
              </a:rPr>
              <a:t> FSE, 2026.</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5"/>
          <p:cNvSpPr txBox="1"/>
          <p:nvPr>
            <p:ph type="title"/>
          </p:nvPr>
        </p:nvSpPr>
        <p:spPr>
          <a:xfrm>
            <a:off x="1247040" y="2285280"/>
            <a:ext cx="66495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2800"/>
              <a:buFont typeface="Figtree Black"/>
              <a:buNone/>
            </a:pPr>
            <a:r>
              <a:rPr b="0" lang="en-US" sz="2800" strike="noStrike">
                <a:solidFill>
                  <a:schemeClr val="dk1"/>
                </a:solidFill>
                <a:latin typeface="Figtree Black"/>
                <a:ea typeface="Figtree Black"/>
                <a:cs typeface="Figtree Black"/>
                <a:sym typeface="Figtree Black"/>
              </a:rPr>
              <a:t>Thank You!</a:t>
            </a:r>
            <a:endParaRPr b="0" sz="2800"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6"/>
          <p:cNvSpPr txBox="1"/>
          <p:nvPr>
            <p:ph type="title"/>
          </p:nvPr>
        </p:nvSpPr>
        <p:spPr>
          <a:xfrm>
            <a:off x="2245188" y="307785"/>
            <a:ext cx="46536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F2020"/>
              </a:buClr>
              <a:buSzPts val="3200"/>
              <a:buFont typeface="Poppins"/>
              <a:buNone/>
            </a:pPr>
            <a:r>
              <a:rPr b="1" lang="en-US" sz="3200">
                <a:solidFill>
                  <a:srgbClr val="1F2020"/>
                </a:solidFill>
                <a:latin typeface="Poppins"/>
                <a:ea typeface="Poppins"/>
                <a:cs typeface="Poppins"/>
                <a:sym typeface="Poppins"/>
              </a:rPr>
              <a:t>Conclusion</a:t>
            </a:r>
            <a:endParaRPr b="0" sz="3200" strike="noStrike">
              <a:solidFill>
                <a:srgbClr val="000000"/>
              </a:solidFill>
              <a:latin typeface="Arial"/>
              <a:ea typeface="Arial"/>
              <a:cs typeface="Arial"/>
              <a:sym typeface="Arial"/>
            </a:endParaRPr>
          </a:p>
        </p:txBody>
      </p:sp>
      <p:sp>
        <p:nvSpPr>
          <p:cNvPr id="307" name="Google Shape;307;p46"/>
          <p:cNvSpPr/>
          <p:nvPr/>
        </p:nvSpPr>
        <p:spPr>
          <a:xfrm>
            <a:off x="515560" y="880180"/>
            <a:ext cx="7772100" cy="3291000"/>
          </a:xfrm>
          <a:prstGeom prst="rect">
            <a:avLst/>
          </a:prstGeom>
          <a:noFill/>
          <a:ln>
            <a:noFill/>
          </a:ln>
        </p:spPr>
        <p:txBody>
          <a:bodyPr anchorCtr="0" anchor="t" bIns="45000" lIns="90000" spcFirstLastPara="1" rIns="90000" wrap="square" tIns="45000">
            <a:noAutofit/>
          </a:bodyPr>
          <a:lstStyle/>
          <a:p>
            <a:pPr indent="0" lvl="0" marL="158760" marR="0" rtl="0" algn="l">
              <a:lnSpc>
                <a:spcPct val="100000"/>
              </a:lnSpc>
              <a:spcBef>
                <a:spcPts val="1199"/>
              </a:spcBef>
              <a:spcAft>
                <a:spcPts val="0"/>
              </a:spcAft>
              <a:buClr>
                <a:srgbClr val="000000"/>
              </a:buClr>
              <a:buSzPts val="2000"/>
              <a:buFont typeface="Arial"/>
              <a:buNone/>
            </a:pPr>
            <a:r>
              <a:rPr lang="en-US" sz="1200">
                <a:latin typeface="Poppins"/>
                <a:ea typeface="Poppins"/>
                <a:cs typeface="Poppins"/>
                <a:sym typeface="Poppins"/>
              </a:rPr>
              <a:t>This work successfully designed and deployed an autonomous, end-to-end DevSecOps pipeline capable of intelligently triaging static analysis alerts and self-healing vulnerabilities without human intervention.</a:t>
            </a:r>
            <a:endParaRPr sz="1200">
              <a:latin typeface="Poppins"/>
              <a:ea typeface="Poppins"/>
              <a:cs typeface="Poppins"/>
              <a:sym typeface="Poppins"/>
            </a:endParaRPr>
          </a:p>
          <a:p>
            <a:pPr indent="0" lvl="0" marL="0" marR="0" rtl="0" algn="l">
              <a:lnSpc>
                <a:spcPct val="100000"/>
              </a:lnSpc>
              <a:spcBef>
                <a:spcPts val="1199"/>
              </a:spcBef>
              <a:spcAft>
                <a:spcPts val="0"/>
              </a:spcAft>
              <a:buClr>
                <a:srgbClr val="000000"/>
              </a:buClr>
              <a:buSzPts val="2000"/>
              <a:buFont typeface="Arial"/>
              <a:buNone/>
            </a:pPr>
            <a:r>
              <a:rPr lang="en-US" sz="1200">
                <a:latin typeface="Poppins"/>
                <a:ea typeface="Poppins"/>
                <a:cs typeface="Poppins"/>
                <a:sym typeface="Poppins"/>
              </a:rPr>
              <a:t>Final Outcomes Achieved:</a:t>
            </a:r>
            <a:endParaRPr sz="1200">
              <a:latin typeface="Poppins"/>
              <a:ea typeface="Poppins"/>
              <a:cs typeface="Poppins"/>
              <a:sym typeface="Poppins"/>
            </a:endParaRPr>
          </a:p>
          <a:p>
            <a:pPr indent="0" lvl="0" marL="0" marR="0" rtl="0" algn="l">
              <a:lnSpc>
                <a:spcPct val="100000"/>
              </a:lnSpc>
              <a:spcBef>
                <a:spcPts val="1199"/>
              </a:spcBef>
              <a:spcAft>
                <a:spcPts val="0"/>
              </a:spcAft>
              <a:buNone/>
            </a:pPr>
            <a:r>
              <a:rPr b="1" lang="en-US" sz="1200">
                <a:latin typeface="Poppins"/>
                <a:ea typeface="Poppins"/>
                <a:cs typeface="Poppins"/>
                <a:sym typeface="Poppins"/>
              </a:rPr>
              <a:t>Comprehensive SAST Integration:</a:t>
            </a:r>
            <a:r>
              <a:rPr lang="en-US" sz="1200">
                <a:latin typeface="Poppins"/>
                <a:ea typeface="Poppins"/>
                <a:cs typeface="Poppins"/>
                <a:sym typeface="Poppins"/>
              </a:rPr>
              <a:t> Automated deep static application security testing using CodeQL as the foundational alert generator.</a:t>
            </a:r>
            <a:endParaRPr sz="1200">
              <a:latin typeface="Poppins"/>
              <a:ea typeface="Poppins"/>
              <a:cs typeface="Poppins"/>
              <a:sym typeface="Poppins"/>
            </a:endParaRPr>
          </a:p>
          <a:p>
            <a:pPr indent="0" lvl="0" marL="0" marR="0" rtl="0" algn="l">
              <a:lnSpc>
                <a:spcPct val="100000"/>
              </a:lnSpc>
              <a:spcBef>
                <a:spcPts val="1199"/>
              </a:spcBef>
              <a:spcAft>
                <a:spcPts val="0"/>
              </a:spcAft>
              <a:buNone/>
            </a:pPr>
            <a:r>
              <a:rPr b="1" lang="en-US" sz="1200">
                <a:latin typeface="Poppins"/>
                <a:ea typeface="Poppins"/>
                <a:cs typeface="Poppins"/>
                <a:sym typeface="Poppins"/>
              </a:rPr>
              <a:t>High-Fidelity Machine Learning Triage:</a:t>
            </a:r>
            <a:r>
              <a:rPr lang="en-US" sz="1200">
                <a:latin typeface="Poppins"/>
                <a:ea typeface="Poppins"/>
                <a:cs typeface="Poppins"/>
                <a:sym typeface="Poppins"/>
              </a:rPr>
              <a:t> Upgraded from basic classification to an optimized Gradient Boosting Machine (GBM) utilizing 13-dimensional weighted vulnerability vectors.</a:t>
            </a:r>
            <a:endParaRPr sz="1200">
              <a:latin typeface="Poppins"/>
              <a:ea typeface="Poppins"/>
              <a:cs typeface="Poppins"/>
              <a:sym typeface="Poppins"/>
            </a:endParaRPr>
          </a:p>
          <a:p>
            <a:pPr indent="0" lvl="0" marL="0" marR="0" rtl="0" algn="l">
              <a:lnSpc>
                <a:spcPct val="100000"/>
              </a:lnSpc>
              <a:spcBef>
                <a:spcPts val="1199"/>
              </a:spcBef>
              <a:spcAft>
                <a:spcPts val="0"/>
              </a:spcAft>
              <a:buNone/>
            </a:pPr>
            <a:r>
              <a:rPr b="1" lang="en-US" sz="1200">
                <a:latin typeface="Poppins"/>
                <a:ea typeface="Poppins"/>
                <a:cs typeface="Poppins"/>
                <a:sym typeface="Poppins"/>
              </a:rPr>
              <a:t>Elimination of Alert Fatigue:</a:t>
            </a:r>
            <a:r>
              <a:rPr lang="en-US" sz="1200">
                <a:latin typeface="Poppins"/>
                <a:ea typeface="Poppins"/>
                <a:cs typeface="Poppins"/>
                <a:sym typeface="Poppins"/>
              </a:rPr>
              <a:t> The ML model mathematically suppressed static analysis noise, drastically improving triage precision to ~85% while catching 93% of real vulnerabilities.</a:t>
            </a:r>
            <a:endParaRPr sz="1200">
              <a:latin typeface="Poppins"/>
              <a:ea typeface="Poppins"/>
              <a:cs typeface="Poppins"/>
              <a:sym typeface="Poppins"/>
            </a:endParaRPr>
          </a:p>
          <a:p>
            <a:pPr indent="0" lvl="0" marL="0" marR="0" rtl="0" algn="l">
              <a:lnSpc>
                <a:spcPct val="100000"/>
              </a:lnSpc>
              <a:spcBef>
                <a:spcPts val="1199"/>
              </a:spcBef>
              <a:spcAft>
                <a:spcPts val="0"/>
              </a:spcAft>
              <a:buNone/>
            </a:pPr>
            <a:r>
              <a:rPr b="1" lang="en-US" sz="1200">
                <a:latin typeface="Poppins"/>
                <a:ea typeface="Poppins"/>
                <a:cs typeface="Poppins"/>
                <a:sym typeface="Poppins"/>
              </a:rPr>
              <a:t>Autonomous LLM Remediation:</a:t>
            </a:r>
            <a:r>
              <a:rPr lang="en-US" sz="1200">
                <a:latin typeface="Poppins"/>
                <a:ea typeface="Poppins"/>
                <a:cs typeface="Poppins"/>
                <a:sym typeface="Poppins"/>
              </a:rPr>
              <a:t> Engineered a sophisticated self-healing agent (Llama-3.3-70b) that dynamically scales between localized "Snippet-Mode" and "Full-File Escalation" to patch complex bugs.</a:t>
            </a:r>
            <a:endParaRPr sz="1200">
              <a:latin typeface="Poppins"/>
              <a:ea typeface="Poppins"/>
              <a:cs typeface="Poppins"/>
              <a:sym typeface="Poppins"/>
            </a:endParaRPr>
          </a:p>
          <a:p>
            <a:pPr indent="0" lvl="0" marL="0" marR="0" rtl="0" algn="l">
              <a:lnSpc>
                <a:spcPct val="100000"/>
              </a:lnSpc>
              <a:spcBef>
                <a:spcPts val="1199"/>
              </a:spcBef>
              <a:spcAft>
                <a:spcPts val="0"/>
              </a:spcAft>
              <a:buNone/>
            </a:pPr>
            <a:r>
              <a:rPr b="1" lang="en-US" sz="1200">
                <a:latin typeface="Poppins"/>
                <a:ea typeface="Poppins"/>
                <a:cs typeface="Poppins"/>
                <a:sym typeface="Poppins"/>
              </a:rPr>
              <a:t>Zero-Trust Validation Loop:</a:t>
            </a:r>
            <a:r>
              <a:rPr lang="en-US" sz="1200">
                <a:latin typeface="Poppins"/>
                <a:ea typeface="Poppins"/>
                <a:cs typeface="Poppins"/>
                <a:sym typeface="Poppins"/>
              </a:rPr>
              <a:t> Guaranteed strict codebase stability by forcing all LLM-generated patches to perfectly pass a Java compiler check and a CodeQL security re-scan before being accepted.</a:t>
            </a:r>
            <a:endParaRPr sz="1200">
              <a:latin typeface="Poppins"/>
              <a:ea typeface="Poppins"/>
              <a:cs typeface="Poppins"/>
              <a:sym typeface="Poppi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type="title"/>
          </p:nvPr>
        </p:nvSpPr>
        <p:spPr>
          <a:xfrm>
            <a:off x="2751840" y="394200"/>
            <a:ext cx="46536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1F2020"/>
              </a:buClr>
              <a:buSzPts val="3200"/>
              <a:buFont typeface="Poppins"/>
              <a:buNone/>
            </a:pPr>
            <a:r>
              <a:rPr b="1" lang="en-US" sz="3200" strike="noStrike">
                <a:solidFill>
                  <a:srgbClr val="1F2020"/>
                </a:solidFill>
                <a:latin typeface="Poppins"/>
                <a:ea typeface="Poppins"/>
                <a:cs typeface="Poppins"/>
                <a:sym typeface="Poppins"/>
              </a:rPr>
              <a:t>Future Scope</a:t>
            </a:r>
            <a:br>
              <a:rPr lang="en-US" sz="3200"/>
            </a:br>
            <a:endParaRPr b="0" sz="3200" strike="noStrike">
              <a:solidFill>
                <a:srgbClr val="000000"/>
              </a:solidFill>
              <a:latin typeface="Arial"/>
              <a:ea typeface="Arial"/>
              <a:cs typeface="Arial"/>
              <a:sym typeface="Arial"/>
            </a:endParaRPr>
          </a:p>
        </p:txBody>
      </p:sp>
      <p:sp>
        <p:nvSpPr>
          <p:cNvPr id="313" name="Google Shape;313;p47"/>
          <p:cNvSpPr/>
          <p:nvPr/>
        </p:nvSpPr>
        <p:spPr>
          <a:xfrm>
            <a:off x="487800" y="1352700"/>
            <a:ext cx="7853400" cy="35682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0"/>
              </a:spcBef>
              <a:spcAft>
                <a:spcPts val="0"/>
              </a:spcAft>
              <a:buNone/>
            </a:pPr>
            <a:r>
              <a:rPr b="1" lang="en-US" sz="1100"/>
              <a:t>Future Enhancements &amp; Pipeline Evolution</a:t>
            </a:r>
            <a:endParaRPr b="1" sz="1100"/>
          </a:p>
          <a:p>
            <a:pPr indent="-298450" lvl="0" marL="457200" rtl="0" algn="l">
              <a:lnSpc>
                <a:spcPct val="115000"/>
              </a:lnSpc>
              <a:spcBef>
                <a:spcPts val="1200"/>
              </a:spcBef>
              <a:spcAft>
                <a:spcPts val="0"/>
              </a:spcAft>
              <a:buSzPts val="1100"/>
              <a:buChar char="●"/>
            </a:pPr>
            <a:r>
              <a:rPr b="1" lang="en-US" sz="1100"/>
              <a:t>DAST Integration:</a:t>
            </a:r>
            <a:r>
              <a:rPr lang="en-US" sz="1100"/>
              <a:t> Integrate OWASP ZAP to test running apps in real-time, catching runtime vulnerabilities and authentication flaws missed by SAST.</a:t>
            </a:r>
            <a:endParaRPr sz="1100"/>
          </a:p>
          <a:p>
            <a:pPr indent="-298450" lvl="0" marL="457200" rtl="0" algn="l">
              <a:lnSpc>
                <a:spcPct val="115000"/>
              </a:lnSpc>
              <a:spcBef>
                <a:spcPts val="0"/>
              </a:spcBef>
              <a:spcAft>
                <a:spcPts val="0"/>
              </a:spcAft>
              <a:buSzPts val="1100"/>
              <a:buChar char="●"/>
            </a:pPr>
            <a:r>
              <a:rPr b="1" lang="en-US" sz="1100"/>
              <a:t>Multi-Language Expansion:</a:t>
            </a:r>
            <a:r>
              <a:rPr lang="en-US" sz="1100"/>
              <a:t> Extend beyond Java to support Python, JavaScript, and Go, creating a universal security layer for polyglot microservices.</a:t>
            </a:r>
            <a:endParaRPr sz="1100"/>
          </a:p>
          <a:p>
            <a:pPr indent="-298450" lvl="0" marL="457200" rtl="0" algn="l">
              <a:lnSpc>
                <a:spcPct val="115000"/>
              </a:lnSpc>
              <a:spcBef>
                <a:spcPts val="0"/>
              </a:spcBef>
              <a:spcAft>
                <a:spcPts val="0"/>
              </a:spcAft>
              <a:buSzPts val="1100"/>
              <a:buChar char="●"/>
            </a:pPr>
            <a:r>
              <a:rPr b="1" lang="en-US" sz="1100"/>
              <a:t>Reinforcement Learning (RLCF):</a:t>
            </a:r>
            <a:r>
              <a:rPr lang="en-US" sz="1100"/>
              <a:t> Implement a feedback loop to fine-tune the LLM (Llama-3) based on compile success and CodeQL re-scans, improving zero-shot patching accuracy.</a:t>
            </a:r>
            <a:endParaRPr sz="1100"/>
          </a:p>
          <a:p>
            <a:pPr indent="-298450" lvl="0" marL="457200" rtl="0" algn="l">
              <a:lnSpc>
                <a:spcPct val="115000"/>
              </a:lnSpc>
              <a:spcBef>
                <a:spcPts val="0"/>
              </a:spcBef>
              <a:spcAft>
                <a:spcPts val="0"/>
              </a:spcAft>
              <a:buSzPts val="1100"/>
              <a:buChar char="●"/>
            </a:pPr>
            <a:r>
              <a:rPr b="1" lang="en-US" sz="1100"/>
              <a:t>Autonomous Test Generation:</a:t>
            </a:r>
            <a:r>
              <a:rPr lang="en-US" sz="1100"/>
              <a:t> Upgrade the LLM to automatically generate Unit test cases alongside security patches to prevent future regressions.</a:t>
            </a:r>
            <a:endParaRPr sz="1100"/>
          </a:p>
          <a:p>
            <a:pPr indent="0" lvl="0" marL="0" marR="0" rtl="0" algn="l">
              <a:lnSpc>
                <a:spcPct val="100000"/>
              </a:lnSpc>
              <a:spcBef>
                <a:spcPts val="1200"/>
              </a:spcBef>
              <a:spcAft>
                <a:spcPts val="0"/>
              </a:spcAft>
              <a:buNone/>
            </a:pPr>
            <a:r>
              <a:t/>
            </a:r>
            <a:endParaRPr sz="1100">
              <a:latin typeface="Poppins"/>
              <a:ea typeface="Poppins"/>
              <a:cs typeface="Poppins"/>
              <a:sym typeface="Poppi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type="title"/>
          </p:nvPr>
        </p:nvSpPr>
        <p:spPr>
          <a:xfrm>
            <a:off x="3209040" y="371160"/>
            <a:ext cx="46536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2800"/>
              <a:buFont typeface="Figtree Black"/>
              <a:buNone/>
            </a:pPr>
            <a:r>
              <a:rPr b="0" lang="en-US" sz="2800" strike="noStrike">
                <a:solidFill>
                  <a:schemeClr val="dk1"/>
                </a:solidFill>
                <a:latin typeface="Figtree Black"/>
                <a:ea typeface="Figtree Black"/>
                <a:cs typeface="Figtree Black"/>
                <a:sym typeface="Figtree Black"/>
              </a:rPr>
              <a:t>References</a:t>
            </a:r>
            <a:endParaRPr b="0" sz="2800" strike="noStrike">
              <a:solidFill>
                <a:srgbClr val="000000"/>
              </a:solidFill>
              <a:latin typeface="Arial"/>
              <a:ea typeface="Arial"/>
              <a:cs typeface="Arial"/>
              <a:sym typeface="Arial"/>
            </a:endParaRPr>
          </a:p>
        </p:txBody>
      </p:sp>
      <p:sp>
        <p:nvSpPr>
          <p:cNvPr id="319" name="Google Shape;319;p48"/>
          <p:cNvSpPr/>
          <p:nvPr/>
        </p:nvSpPr>
        <p:spPr>
          <a:xfrm>
            <a:off x="294480" y="1156680"/>
            <a:ext cx="8554200" cy="37482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None/>
            </a:pPr>
            <a:r>
              <a:rPr b="1" lang="en-US" sz="1300"/>
              <a:t>🔹 Core Foundations</a:t>
            </a:r>
            <a:endParaRPr b="1" sz="1300"/>
          </a:p>
          <a:p>
            <a:pPr indent="-298450" lvl="0" marL="457200" rtl="0" algn="l">
              <a:lnSpc>
                <a:spcPct val="115000"/>
              </a:lnSpc>
              <a:spcBef>
                <a:spcPts val="1200"/>
              </a:spcBef>
              <a:spcAft>
                <a:spcPts val="0"/>
              </a:spcAft>
              <a:buSzPts val="1100"/>
              <a:buChar char="●"/>
            </a:pPr>
            <a:r>
              <a:rPr lang="en-US" sz="1100"/>
              <a:t>[1] S. Habib and M. Pradel, </a:t>
            </a:r>
            <a:r>
              <a:rPr i="1" lang="en-US" sz="1100"/>
              <a:t>“Static Code Analysis Alarms Filtering Reloaded: A New Real-World Dataset and its ML-Based Utilization,”</a:t>
            </a:r>
            <a:r>
              <a:rPr lang="en-US" sz="1100"/>
              <a:t> Empirical Software Engineering, 2022.</a:t>
            </a:r>
            <a:endParaRPr sz="1100"/>
          </a:p>
          <a:p>
            <a:pPr indent="-298450" lvl="0" marL="457200" rtl="0" algn="l">
              <a:lnSpc>
                <a:spcPct val="115000"/>
              </a:lnSpc>
              <a:spcBef>
                <a:spcPts val="0"/>
              </a:spcBef>
              <a:spcAft>
                <a:spcPts val="0"/>
              </a:spcAft>
              <a:buSzPts val="1100"/>
              <a:buChar char="●"/>
            </a:pPr>
            <a:r>
              <a:rPr lang="en-US" sz="1100"/>
              <a:t>[2] A. Shrestha et al., </a:t>
            </a:r>
            <a:r>
              <a:rPr i="1" lang="en-US" sz="1100"/>
              <a:t>“Agentic AI for Autonomous Software Supply Chain Security,”</a:t>
            </a:r>
            <a:r>
              <a:rPr lang="en-US" sz="1100"/>
              <a:t> arXiv, 2025.</a:t>
            </a:r>
            <a:endParaRPr sz="1100"/>
          </a:p>
          <a:p>
            <a:pPr indent="-298450" lvl="0" marL="457200" rtl="0" algn="l">
              <a:lnSpc>
                <a:spcPct val="115000"/>
              </a:lnSpc>
              <a:spcBef>
                <a:spcPts val="0"/>
              </a:spcBef>
              <a:spcAft>
                <a:spcPts val="0"/>
              </a:spcAft>
              <a:buSzPts val="1100"/>
              <a:buChar char="●"/>
            </a:pPr>
            <a:r>
              <a:rPr lang="en-US" sz="1100"/>
              <a:t>[3] OWASP Foundation, </a:t>
            </a:r>
            <a:r>
              <a:rPr i="1" lang="en-US" sz="1100"/>
              <a:t>“OWASP Benchmark Project,”</a:t>
            </a:r>
            <a:r>
              <a:rPr lang="en-US" sz="1100"/>
              <a:t> 2023.</a:t>
            </a:r>
            <a:endParaRPr sz="1100"/>
          </a:p>
          <a:p>
            <a:pPr indent="-298450" lvl="0" marL="457200" rtl="0" algn="l">
              <a:lnSpc>
                <a:spcPct val="115000"/>
              </a:lnSpc>
              <a:spcBef>
                <a:spcPts val="0"/>
              </a:spcBef>
              <a:spcAft>
                <a:spcPts val="0"/>
              </a:spcAft>
              <a:buSzPts val="1100"/>
              <a:buChar char="●"/>
            </a:pPr>
            <a:r>
              <a:rPr lang="en-US" sz="1100"/>
              <a:t>[4] L. Breiman, </a:t>
            </a:r>
            <a:r>
              <a:rPr i="1" lang="en-US" sz="1100"/>
              <a:t>“Random Forests,”</a:t>
            </a:r>
            <a:r>
              <a:rPr lang="en-US" sz="1100"/>
              <a:t> Machine Learning, 2001.</a:t>
            </a:r>
            <a:endParaRPr sz="1100"/>
          </a:p>
          <a:p>
            <a:pPr indent="-298450" lvl="0" marL="457200" rtl="0" algn="l">
              <a:lnSpc>
                <a:spcPct val="115000"/>
              </a:lnSpc>
              <a:spcBef>
                <a:spcPts val="0"/>
              </a:spcBef>
              <a:spcAft>
                <a:spcPts val="0"/>
              </a:spcAft>
              <a:buSzPts val="1100"/>
              <a:buChar char="●"/>
            </a:pPr>
            <a:r>
              <a:rPr lang="en-US" sz="1100"/>
              <a:t>[5] GitHub Security Lab, </a:t>
            </a:r>
            <a:r>
              <a:rPr i="1" lang="en-US" sz="1100"/>
              <a:t>“CodeQL: Static Analysis for Security and Quality,”</a:t>
            </a:r>
            <a:r>
              <a:rPr lang="en-US" sz="1100"/>
              <a:t> 2023.</a:t>
            </a:r>
            <a:endParaRPr sz="1100"/>
          </a:p>
          <a:p>
            <a:pPr indent="-298450" lvl="0" marL="457200" rtl="0" algn="l">
              <a:lnSpc>
                <a:spcPct val="115000"/>
              </a:lnSpc>
              <a:spcBef>
                <a:spcPts val="0"/>
              </a:spcBef>
              <a:spcAft>
                <a:spcPts val="0"/>
              </a:spcAft>
              <a:buSzPts val="1100"/>
              <a:buChar char="●"/>
            </a:pPr>
            <a:r>
              <a:rPr lang="en-US" sz="1100"/>
              <a:t>[6] M. Allamanis et al., </a:t>
            </a:r>
            <a:r>
              <a:rPr i="1" lang="en-US" sz="1100"/>
              <a:t>“Machine Learning for Big Code and Naturalness,”</a:t>
            </a:r>
            <a:r>
              <a:rPr lang="en-US" sz="1100"/>
              <a:t> ACM Computing Surveys, 2018.</a:t>
            </a:r>
            <a:endParaRPr sz="1100"/>
          </a:p>
          <a:p>
            <a:pPr indent="0" lvl="0" marL="0" rtl="0" algn="l">
              <a:lnSpc>
                <a:spcPct val="115000"/>
              </a:lnSpc>
              <a:spcBef>
                <a:spcPts val="1400"/>
              </a:spcBef>
              <a:spcAft>
                <a:spcPts val="0"/>
              </a:spcAft>
              <a:buNone/>
            </a:pPr>
            <a:r>
              <a:rPr b="1" lang="en-US" sz="1300"/>
              <a:t>🔹 Recent Advances in AI + Vulnerability Detection</a:t>
            </a:r>
            <a:endParaRPr b="1" sz="1300"/>
          </a:p>
          <a:p>
            <a:pPr indent="-298450" lvl="0" marL="457200" rtl="0" algn="l">
              <a:lnSpc>
                <a:spcPct val="115000"/>
              </a:lnSpc>
              <a:spcBef>
                <a:spcPts val="1200"/>
              </a:spcBef>
              <a:spcAft>
                <a:spcPts val="0"/>
              </a:spcAft>
              <a:buSzPts val="1100"/>
              <a:buChar char="●"/>
            </a:pPr>
            <a:r>
              <a:rPr lang="en-US" sz="1100"/>
              <a:t>[7] M. Iranmanesh et al., </a:t>
            </a:r>
            <a:r>
              <a:rPr i="1" lang="en-US" sz="1100"/>
              <a:t>“ZeroFalse: Improving Precision in Static Analysis with LLMs,”</a:t>
            </a:r>
            <a:r>
              <a:rPr lang="en-US" sz="1100"/>
              <a:t> arXiv, 2025.</a:t>
            </a:r>
            <a:endParaRPr sz="1100"/>
          </a:p>
          <a:p>
            <a:pPr indent="-298450" lvl="0" marL="457200" rtl="0" algn="l">
              <a:lnSpc>
                <a:spcPct val="115000"/>
              </a:lnSpc>
              <a:spcBef>
                <a:spcPts val="0"/>
              </a:spcBef>
              <a:spcAft>
                <a:spcPts val="0"/>
              </a:spcAft>
              <a:buSzPts val="1100"/>
              <a:buChar char="●"/>
            </a:pPr>
            <a:r>
              <a:rPr lang="en-US" sz="1100"/>
              <a:t>[8] T. A. Syed et al., </a:t>
            </a:r>
            <a:r>
              <a:rPr i="1" lang="en-US" sz="1100"/>
              <a:t>“Agentic AI for Autonomous Defense in Software Supply Chain Security,”</a:t>
            </a:r>
            <a:r>
              <a:rPr lang="en-US" sz="1100"/>
              <a:t> arXiv, 2025.</a:t>
            </a:r>
            <a:endParaRPr sz="1100"/>
          </a:p>
          <a:p>
            <a:pPr indent="-298450" lvl="0" marL="457200" rtl="0" algn="l">
              <a:lnSpc>
                <a:spcPct val="115000"/>
              </a:lnSpc>
              <a:spcBef>
                <a:spcPts val="0"/>
              </a:spcBef>
              <a:spcAft>
                <a:spcPts val="0"/>
              </a:spcAft>
              <a:buSzPts val="1100"/>
              <a:buChar char="●"/>
            </a:pPr>
            <a:r>
              <a:rPr lang="en-US" sz="1100"/>
              <a:t>[9] </a:t>
            </a:r>
            <a:r>
              <a:rPr i="1" lang="en-US" sz="1100"/>
              <a:t>“Automated Vulnerability Discovery in FinTech Applications Using AI-Enhanced Static and Dynamic Code Analysis,”</a:t>
            </a:r>
            <a:r>
              <a:rPr lang="en-US" sz="1100"/>
              <a:t> SSRN, 2025.</a:t>
            </a:r>
            <a:endParaRPr sz="1100"/>
          </a:p>
          <a:p>
            <a:pPr indent="0" lvl="0" marL="0" rtl="0" algn="l">
              <a:lnSpc>
                <a:spcPct val="115000"/>
              </a:lnSpc>
              <a:spcBef>
                <a:spcPts val="1400"/>
              </a:spcBef>
              <a:spcAft>
                <a:spcPts val="0"/>
              </a:spcAft>
              <a:buNone/>
            </a:pPr>
            <a:r>
              <a:rPr b="1" lang="en-US" sz="1300"/>
              <a:t>🔹 Agentic AI + Autonomous Security Systems</a:t>
            </a:r>
            <a:endParaRPr b="1" sz="1300"/>
          </a:p>
          <a:p>
            <a:pPr indent="-298450" lvl="0" marL="457200" rtl="0" algn="l">
              <a:lnSpc>
                <a:spcPct val="115000"/>
              </a:lnSpc>
              <a:spcBef>
                <a:spcPts val="1200"/>
              </a:spcBef>
              <a:spcAft>
                <a:spcPts val="0"/>
              </a:spcAft>
              <a:buSzPts val="1100"/>
              <a:buChar char="●"/>
            </a:pPr>
            <a:r>
              <a:rPr lang="en-US" sz="1100"/>
              <a:t>[10] T. Sooksomstarn et al., </a:t>
            </a:r>
            <a:r>
              <a:rPr i="1" lang="en-US" sz="1100"/>
              <a:t>“Agentic Hyper-Intelligence for Cyber Threat Detection,”</a:t>
            </a:r>
            <a:r>
              <a:rPr lang="en-US" sz="1100"/>
              <a:t> IEEE CyberSciTech, 2025.</a:t>
            </a:r>
            <a:endParaRPr sz="1100"/>
          </a:p>
          <a:p>
            <a:pPr indent="-298450" lvl="0" marL="457200" rtl="0" algn="l">
              <a:lnSpc>
                <a:spcPct val="115000"/>
              </a:lnSpc>
              <a:spcBef>
                <a:spcPts val="0"/>
              </a:spcBef>
              <a:spcAft>
                <a:spcPts val="0"/>
              </a:spcAft>
              <a:buSzPts val="1100"/>
              <a:buChar char="●"/>
            </a:pPr>
            <a:r>
              <a:rPr lang="en-US" sz="1100"/>
              <a:t>[11] W. Charoenwet et al., </a:t>
            </a:r>
            <a:r>
              <a:rPr i="1" lang="en-US" sz="1100"/>
              <a:t>“AgenticSCR: Autonomous Secure Code Review for Immature Vulnerabilities Detection,”</a:t>
            </a:r>
            <a:r>
              <a:rPr lang="en-US" sz="1100"/>
              <a:t> FSE, 2026.</a:t>
            </a:r>
            <a:endParaRPr sz="1100"/>
          </a:p>
          <a:p>
            <a:pPr indent="0" lvl="0" marL="0" marR="0" rtl="0" algn="l">
              <a:lnSpc>
                <a:spcPct val="100000"/>
              </a:lnSpc>
              <a:spcBef>
                <a:spcPts val="1200"/>
              </a:spcBef>
              <a:spcAft>
                <a:spcPts val="0"/>
              </a:spcAft>
              <a:buClr>
                <a:srgbClr val="000000"/>
              </a:buClr>
              <a:buSzPts val="1200"/>
              <a:buFont typeface="Arial"/>
              <a:buNone/>
            </a:pPr>
            <a:r>
              <a:t/>
            </a:r>
            <a:endParaRPr sz="11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9"/>
          <p:cNvSpPr txBox="1"/>
          <p:nvPr>
            <p:ph type="title"/>
          </p:nvPr>
        </p:nvSpPr>
        <p:spPr>
          <a:xfrm>
            <a:off x="1247040" y="2285280"/>
            <a:ext cx="6649500" cy="57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2800"/>
              <a:buFont typeface="Figtree Black"/>
              <a:buNone/>
            </a:pPr>
            <a:r>
              <a:rPr b="0" lang="en-US" sz="2800" strike="noStrike">
                <a:solidFill>
                  <a:schemeClr val="dk1"/>
                </a:solidFill>
                <a:latin typeface="Figtree Black"/>
                <a:ea typeface="Figtree Black"/>
                <a:cs typeface="Figtree Black"/>
                <a:sym typeface="Figtree Black"/>
              </a:rPr>
              <a:t>Thank You!</a:t>
            </a:r>
            <a:endParaRPr b="0" sz="2800"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